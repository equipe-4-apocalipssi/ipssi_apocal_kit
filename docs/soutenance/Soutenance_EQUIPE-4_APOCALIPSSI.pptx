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67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6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3E3B77-86DA-935C-FEF8-28511740EA0C}" v="1943" dt="2026-07-02T15:25:22.086"/>
    <p1510:client id="{BFA4EE71-EEE2-4BDB-A22B-3B1EE3DBAA74}" v="10" dt="2026-07-02T13:32:26.351"/>
    <p1510:client id="{C2E6060D-2B25-374A-E26B-A29167783A6C}" v="213" dt="2026-07-02T14:32:02.098"/>
    <p1510:client id="{DF9106CA-7BA3-93F1-FD4F-05202ACFF070}" v="946" dt="2026-07-02T12:44:49.9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8" name="Rectangle 8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50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EduTutor IA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6503158" y="649480"/>
            <a:ext cx="4862447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2000" i="1" u="sng"/>
              <a:t>EQUIPE 4 – APOCALIPSSI</a:t>
            </a:r>
            <a:endParaRPr lang="fr-FR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i="1"/>
              <a:t>BEN MAHFOUDH Chaima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i="1"/>
              <a:t>DACHRAOUI Mohamed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i="1"/>
              <a:t>LIÉNARD Romain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i="1"/>
              <a:t>BOUFALOUS Nassim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i="1"/>
              <a:t>SABETE ISFAHANI Navid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i="1"/>
              <a:t>OUCHEFOUNE Rima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i="1"/>
              <a:t>BACHIR Ryann</a:t>
            </a:r>
          </a:p>
        </p:txBody>
      </p:sp>
    </p:spTree>
    <p:extLst>
      <p:ext uri="{BB962C8B-B14F-4D97-AF65-F5344CB8AC3E}">
        <p14:creationId xmlns:p14="http://schemas.microsoft.com/office/powerpoint/2010/main" val="3784089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D6799BB-614D-2A08-9DAE-78AA3AC55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B13372-2C09-D8C0-3E84-0384DC11F3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107740"/>
            <a:ext cx="9724031" cy="2275472"/>
          </a:xfrm>
        </p:spPr>
        <p:txBody>
          <a:bodyPr anchor="ctr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fr-FR" sz="2000"/>
              <a:t>Le marché des outils IA pour réviser est en explosion : Wilgo, Leo, etc. ==&gt; promesse commune de générer des fiches de révision, des quiz, des résumés pour aider les étudiants dans leur cours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fr-FR" sz="2000" dirty="0" err="1"/>
              <a:t>EduTutor</a:t>
            </a:r>
            <a:r>
              <a:rPr lang="fr-FR" sz="2000" dirty="0"/>
              <a:t> IA veut se positionner avec une approche différente : des prompts métier pensés pour les enseignants, un ancrage pédagogique réel, une conformité RGPD.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fr-FR" sz="2000"/>
              <a:t>Reprise du projet abandonné par une autre équipe, une base a déjà été développée et est bien plus riche qu'un squelette</a:t>
            </a:r>
          </a:p>
        </p:txBody>
      </p:sp>
    </p:spTree>
    <p:extLst>
      <p:ext uri="{BB962C8B-B14F-4D97-AF65-F5344CB8AC3E}">
        <p14:creationId xmlns:p14="http://schemas.microsoft.com/office/powerpoint/2010/main" val="4051282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764E8B-88BA-461B-9FC7-FF54F5635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3180CD1-90B3-B8F7-5A51-83D50A6C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34C8A7-B2BF-8010-DC70-6EFE2607DA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A12372-14A7-92D4-B762-2820EBAE3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2593B0-0FE8-FD80-6FD7-43F4D94C0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263851-064C-1E4F-91DC-969875BA2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A711BC9-216B-E4ED-E42C-57A709A65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Comment reprendre la base existante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C1D6D9-B908-283D-8A9B-8E6DE196A4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122254"/>
            <a:ext cx="9724031" cy="3255186"/>
          </a:xfrm>
        </p:spPr>
        <p:txBody>
          <a:bodyPr anchor="ctr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fr-FR" sz="2000"/>
              <a:t>Inventaire de la base existante : les fonctionnalités présentes, à ajouter, à finir, à jeter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fr-FR" sz="2000"/>
              <a:t>Analyse structurée des besoins : 7 </a:t>
            </a:r>
            <a:r>
              <a:rPr lang="fr-FR" sz="2000" err="1"/>
              <a:t>artefac</a:t>
            </a:r>
            <a:r>
              <a:rPr lang="fr-FR" sz="2000"/>
              <a:t>ts de cadrage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1800"/>
              <a:t>Product Vision Board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1800" err="1"/>
              <a:t>Personas</a:t>
            </a:r>
            <a:endParaRPr lang="fr-FR" sz="1800"/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1800"/>
              <a:t>Customer Journey Map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1800"/>
              <a:t>Story </a:t>
            </a:r>
            <a:r>
              <a:rPr lang="fr-FR" sz="1800" err="1"/>
              <a:t>Map</a:t>
            </a:r>
            <a:endParaRPr lang="fr-FR" sz="1800"/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1800"/>
              <a:t>Release Planning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1800"/>
              <a:t>Product </a:t>
            </a:r>
            <a:r>
              <a:rPr lang="fr-FR" sz="1800" err="1"/>
              <a:t>Backlog</a:t>
            </a:r>
            <a:endParaRPr lang="fr-FR" sz="1800"/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1800"/>
              <a:t>Sprint </a:t>
            </a:r>
            <a:r>
              <a:rPr lang="fr-FR" sz="1800" err="1"/>
              <a:t>Backlog</a:t>
            </a:r>
            <a:endParaRPr lang="fr-FR" sz="1800"/>
          </a:p>
        </p:txBody>
      </p:sp>
    </p:spTree>
    <p:extLst>
      <p:ext uri="{BB962C8B-B14F-4D97-AF65-F5344CB8AC3E}">
        <p14:creationId xmlns:p14="http://schemas.microsoft.com/office/powerpoint/2010/main" val="3854557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EBFF1B-1B2D-EFDE-4855-24ED51ADD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D0960B4-6C38-4B3F-0837-6CD9A0C4BB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8AE416-D807-DF8D-25A3-503F30A3B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CB1A21-7A17-DD21-67B9-BA13E6DF2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3F87D7-382C-A35C-0F77-E4F7513BC2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AB029D-566F-9C20-C4E7-FD7742BFA0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F3A6F67-7493-7073-3DFE-07E9ABCB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019322" cy="1033669"/>
          </a:xfrm>
        </p:spPr>
        <p:txBody>
          <a:bodyPr>
            <a:normAutofit fontScale="90000"/>
          </a:bodyPr>
          <a:lstStyle/>
          <a:p>
            <a:r>
              <a:rPr lang="fr-FR" sz="4000">
                <a:solidFill>
                  <a:srgbClr val="FFFFFF"/>
                </a:solidFill>
              </a:rPr>
              <a:t>Artefacts de cadrage (1/7) - Product Vision Board</a:t>
            </a:r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AE05693-A8CE-BE62-D9C3-29BB89BBD45B}"/>
              </a:ext>
            </a:extLst>
          </p:cNvPr>
          <p:cNvSpPr txBox="1"/>
          <p:nvPr/>
        </p:nvSpPr>
        <p:spPr>
          <a:xfrm>
            <a:off x="1371601" y="2456543"/>
            <a:ext cx="10138226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dirty="0">
                <a:solidFill>
                  <a:srgbClr val="2563A8"/>
                </a:solidFill>
                <a:latin typeface="Calibri"/>
                <a:ea typeface="Calibri"/>
                <a:cs typeface="Calibri"/>
              </a:rPr>
              <a:t>—  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Vision :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EduTutor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IA aide les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étudiants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à transformer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leurs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cours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quiz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utiles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, et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donne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aux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enseignants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une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vue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pour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suivre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les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résultats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leur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classe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, sans exposer les données.</a:t>
            </a:r>
          </a:p>
          <a:p>
            <a:br>
              <a:rPr lang="en-US" b="0" dirty="0"/>
            </a:br>
            <a:r>
              <a:rPr lang="en-US" b="1" i="0" u="none" strike="noStrike" dirty="0">
                <a:solidFill>
                  <a:srgbClr val="2563A8"/>
                </a:solidFill>
                <a:latin typeface="Calibri"/>
                <a:ea typeface="Calibri"/>
                <a:cs typeface="Calibri"/>
              </a:rPr>
              <a:t>— 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Cibles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: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étudiant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primaire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),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Mme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Lefèvre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enseignante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BTS (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secondaire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post-J1),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administrateur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(support),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établissement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tertiaire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).</a:t>
            </a:r>
          </a:p>
          <a:p>
            <a:br>
              <a:rPr lang="en-US" b="0" dirty="0"/>
            </a:br>
            <a:r>
              <a:rPr lang="en-US" b="1" i="0" u="none" strike="noStrike" dirty="0">
                <a:solidFill>
                  <a:srgbClr val="2563A8"/>
                </a:solidFill>
                <a:latin typeface="Calibri"/>
                <a:ea typeface="Calibri"/>
                <a:cs typeface="Calibri"/>
              </a:rPr>
              <a:t>—  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Release 1 —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mercredi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: F1-F6 stables + première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vue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enseignante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limitée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aux scores/progression.</a:t>
            </a:r>
          </a:p>
          <a:p>
            <a:br>
              <a:rPr lang="en-US" b="0" dirty="0"/>
            </a:br>
            <a:r>
              <a:rPr lang="en-US" b="1" i="0" u="none" strike="noStrike" dirty="0">
                <a:solidFill>
                  <a:srgbClr val="2563A8"/>
                </a:solidFill>
                <a:latin typeface="Calibri"/>
                <a:ea typeface="Calibri"/>
                <a:cs typeface="Calibri"/>
              </a:rPr>
              <a:t>—  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Release 2 —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jeudi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: dashboard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classe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détection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décrocheurs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, fiche RGPD,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amélioration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admin.</a:t>
            </a:r>
          </a:p>
          <a:p>
            <a:br>
              <a:rPr lang="en-US" b="0" dirty="0"/>
            </a:br>
            <a:r>
              <a:rPr lang="en-US" b="1" i="0" u="none" strike="noStrike" dirty="0">
                <a:solidFill>
                  <a:srgbClr val="2563A8"/>
                </a:solidFill>
                <a:latin typeface="Calibri"/>
                <a:ea typeface="Calibri"/>
                <a:cs typeface="Calibri"/>
              </a:rPr>
              <a:t>—  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Hors scope : SSO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établissement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contrat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B2B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complet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, multi-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établissement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messagerie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b="0" i="0" u="none" strike="noStrike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avancée</a:t>
            </a:r>
            <a:r>
              <a:rPr lang="en-US" b="0" i="0" u="none" strike="noStrike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endParaRPr lang="en-US"/>
          </a:p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353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8D7986-8575-6CFE-4219-DD49264B6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062E084-11B5-4C9B-38BA-B50D937C9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5D4E08-F40A-B94A-41BF-49945730C7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997250-4973-4C05-B351-6AE46F49D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8D678B-4352-2CEC-8CF5-598485624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5D145D-3FC4-E043-048F-621321FCE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BF532F8-9DB0-B87F-6816-EC6E2AE6F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019322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Artefacts de cadrage (2/7) - </a:t>
            </a:r>
            <a:r>
              <a:rPr lang="fr-FR" sz="4000" err="1">
                <a:solidFill>
                  <a:srgbClr val="FFFFFF"/>
                </a:solidFill>
              </a:rPr>
              <a:t>Personas</a:t>
            </a:r>
            <a:endParaRPr lang="fr-FR" err="1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2C7E4F8C-634C-7F4B-199B-DCDD938B04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37371" cy="29434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sz="2000" dirty="0"/>
              <a:t>4 </a:t>
            </a:r>
            <a:r>
              <a:rPr lang="fr-FR" sz="2000" dirty="0" err="1"/>
              <a:t>personas</a:t>
            </a:r>
            <a:r>
              <a:rPr lang="fr-FR" sz="2000" dirty="0"/>
              <a:t>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2000"/>
              <a:t>Etudiant : utilisateur principal</a:t>
            </a:r>
            <a:endParaRPr lang="fr-FR" sz="20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2000"/>
              <a:t>Enseignante : secondaire</a:t>
            </a:r>
            <a:endParaRPr lang="fr-FR" sz="20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2000"/>
              <a:t>Administrateur</a:t>
            </a:r>
            <a:endParaRPr lang="fr-FR" sz="20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2000"/>
              <a:t>Responsable d'établissement</a:t>
            </a:r>
            <a:endParaRPr lang="fr-FR" sz="2000" dirty="0"/>
          </a:p>
          <a:p>
            <a:pPr lvl="1">
              <a:buFont typeface="Courier New" panose="020B0604020202020204" pitchFamily="34" charset="0"/>
              <a:buChar char="o"/>
            </a:pPr>
            <a:endParaRPr lang="fr-FR" sz="2000" dirty="0"/>
          </a:p>
          <a:p>
            <a:pPr marL="457200" lvl="1" indent="0">
              <a:buNone/>
            </a:pPr>
            <a:r>
              <a:rPr lang="fr-FR" sz="2000"/>
              <a:t>Déroulé des identités : qui ?, contexte d'usage, compétences numériques, frustrations, objectifs, critères de succès</a:t>
            </a:r>
          </a:p>
        </p:txBody>
      </p:sp>
      <p:sp>
        <p:nvSpPr>
          <p:cNvPr id="4" name="Espace réservé du contenu 4">
            <a:extLst>
              <a:ext uri="{FF2B5EF4-FFF2-40B4-BE49-F238E27FC236}">
                <a16:creationId xmlns:a16="http://schemas.microsoft.com/office/drawing/2014/main" id="{D9FBDFE3-7434-2F8F-254E-4D2A0555CE0C}"/>
              </a:ext>
            </a:extLst>
          </p:cNvPr>
          <p:cNvSpPr txBox="1">
            <a:spLocks/>
          </p:cNvSpPr>
          <p:nvPr/>
        </p:nvSpPr>
        <p:spPr>
          <a:xfrm>
            <a:off x="852714" y="4996996"/>
            <a:ext cx="10537371" cy="16299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/>
              <a:t>Cible limitée pour le pilotage de la Release 1:</a:t>
            </a:r>
            <a:endParaRPr lang="fr-FR" sz="20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2000" dirty="0"/>
              <a:t>Hors scope: élèves de </a:t>
            </a:r>
            <a:r>
              <a:rPr lang="fr-FR" sz="2000"/>
              <a:t>primaire/collège, enseignants qui veulent uniquement un outil bureautique, établissements exigeant une intégration complète dès le départ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560285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5CDCD7-7602-A2C5-CC76-3CBAD0F8C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C10BD03-430A-20DD-38E8-CA0B1AD93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FBFAB0-FDEC-87C7-9A5C-845869FDF4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39E375-5475-EDDF-E883-11507869EA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AAE714-8D39-A388-7207-34A1C0752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99B55B-BC39-3C81-9C7E-BA11932912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01C47B3-E69A-B938-1437-AA0241E20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019322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Artefacts de cadrage (3/7) - Customer Journey</a:t>
            </a:r>
            <a:endParaRPr lang="fr-FR" err="1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C39F16EE-B162-01E7-306F-3BDFB937A6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37371" cy="217419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sz="2000"/>
              <a:t>Elaborer un parcours utilisateur en analysant à un instant </a:t>
            </a:r>
            <a:r>
              <a:rPr lang="fr-FR" sz="2000" i="1"/>
              <a:t>T</a:t>
            </a:r>
            <a:r>
              <a:rPr lang="fr-FR" sz="2000"/>
              <a:t> 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1800"/>
              <a:t>L'action effectuée : </a:t>
            </a:r>
            <a:r>
              <a:rPr lang="fr-FR" sz="1800" i="1"/>
              <a:t>Créer son compte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1800"/>
              <a:t>La pensée : </a:t>
            </a:r>
            <a:r>
              <a:rPr lang="fr-FR" sz="1800" i="1"/>
              <a:t>“Ils ne me demandent pas trop de données, c’est déjà bien.”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1800"/>
              <a:t>L'émotion ressentie : </a:t>
            </a:r>
            <a:r>
              <a:rPr lang="fr-FR" sz="1800" i="1"/>
              <a:t>vigilance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1800"/>
              <a:t>expérience se transformant en friction ou opportunité : </a:t>
            </a:r>
            <a:r>
              <a:rPr lang="fr-FR" sz="1800" i="1"/>
              <a:t>Rassurer sur les données transmises dès l’inscription</a:t>
            </a:r>
            <a:endParaRPr lang="fr-FR" sz="180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7B19C91A-89A2-B88A-A207-8754C12FE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1988558"/>
              </p:ext>
            </p:extLst>
          </p:nvPr>
        </p:nvGraphicFramePr>
        <p:xfrm>
          <a:off x="841828" y="3737428"/>
          <a:ext cx="11198675" cy="30099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39735">
                  <a:extLst>
                    <a:ext uri="{9D8B030D-6E8A-4147-A177-3AD203B41FA5}">
                      <a16:colId xmlns:a16="http://schemas.microsoft.com/office/drawing/2014/main" val="3912007130"/>
                    </a:ext>
                  </a:extLst>
                </a:gridCol>
                <a:gridCol w="2239735">
                  <a:extLst>
                    <a:ext uri="{9D8B030D-6E8A-4147-A177-3AD203B41FA5}">
                      <a16:colId xmlns:a16="http://schemas.microsoft.com/office/drawing/2014/main" val="2074325463"/>
                    </a:ext>
                  </a:extLst>
                </a:gridCol>
                <a:gridCol w="2239735">
                  <a:extLst>
                    <a:ext uri="{9D8B030D-6E8A-4147-A177-3AD203B41FA5}">
                      <a16:colId xmlns:a16="http://schemas.microsoft.com/office/drawing/2014/main" val="306881447"/>
                    </a:ext>
                  </a:extLst>
                </a:gridCol>
                <a:gridCol w="2239735">
                  <a:extLst>
                    <a:ext uri="{9D8B030D-6E8A-4147-A177-3AD203B41FA5}">
                      <a16:colId xmlns:a16="http://schemas.microsoft.com/office/drawing/2014/main" val="429812076"/>
                    </a:ext>
                  </a:extLst>
                </a:gridCol>
                <a:gridCol w="2239735">
                  <a:extLst>
                    <a:ext uri="{9D8B030D-6E8A-4147-A177-3AD203B41FA5}">
                      <a16:colId xmlns:a16="http://schemas.microsoft.com/office/drawing/2014/main" val="4188485546"/>
                    </a:ext>
                  </a:extLst>
                </a:gridCol>
              </a:tblGrid>
              <a:tr h="2181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solidFill>
                            <a:srgbClr val="FFFFFF"/>
                          </a:solidFill>
                          <a:effectLst/>
                        </a:rPr>
                        <a:t>Étape</a:t>
                      </a:r>
                      <a:endParaRPr lang="fr-FR" sz="1200">
                        <a:effectLst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solidFill>
                            <a:srgbClr val="FFFFFF"/>
                          </a:solidFill>
                          <a:effectLst/>
                        </a:rPr>
                        <a:t>Action</a:t>
                      </a:r>
                      <a:endParaRPr lang="fr-FR" sz="1200">
                        <a:effectLst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solidFill>
                            <a:srgbClr val="FFFFFF"/>
                          </a:solidFill>
                          <a:effectLst/>
                        </a:rPr>
                        <a:t>Pensée</a:t>
                      </a:r>
                      <a:endParaRPr lang="fr-FR" sz="1200">
                        <a:effectLst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solidFill>
                            <a:srgbClr val="FFFFFF"/>
                          </a:solidFill>
                          <a:effectLst/>
                        </a:rPr>
                        <a:t>Émotion</a:t>
                      </a:r>
                      <a:endParaRPr lang="fr-FR" sz="1200">
                        <a:effectLst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solidFill>
                            <a:srgbClr val="FFFFFF"/>
                          </a:solidFill>
                          <a:effectLst/>
                        </a:rPr>
                        <a:t>Friction / opportunité</a:t>
                      </a:r>
                      <a:endParaRPr lang="fr-FR" sz="1200">
                        <a:effectLst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5148268"/>
                  </a:ext>
                </a:extLst>
              </a:tr>
              <a:tr h="6389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Découverte</a:t>
                      </a:r>
                      <a:endParaRPr lang="fr-FR" sz="1200">
                        <a:effectLst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Voit une vidéo courte d’une étudiante qui transforme son cours en quiz.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“Encore un outil IA ? Je teste si ça me fait gagner du temps.”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Curieuse mais méfiante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Trop technique au premier contact. Montrer une démo courte et un exemple réel de quiz.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503659"/>
                  </a:ext>
                </a:extLst>
              </a:tr>
              <a:tr h="436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Inscription</a:t>
                      </a:r>
                      <a:endParaRPr lang="fr-FR" sz="1200">
                        <a:effectLst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Crée son compte avec son email universitaire.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“Ils ne me demandent pas trop de données, c’est déjà bien.”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Vigilante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Rassurer sur les données dès l’inscription.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715853"/>
                  </a:ext>
                </a:extLst>
              </a:tr>
              <a:tr h="6389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1re utilisation</a:t>
                      </a:r>
                      <a:endParaRPr lang="fr-FR" sz="1200">
                        <a:effectLst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Colle un cours ou envoie un PDF, puis lance 10 QCM.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“J’espère que ça ne va pas planter ni sortir des questions hors sujet.”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Anxieuse puis soulagée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Afficher un message clair pendant la génération et signaler si le PDF est trop lourd.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6427961"/>
                  </a:ext>
                </a:extLst>
              </a:tr>
              <a:tr h="436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Usage régulier</a:t>
                      </a:r>
                      <a:endParaRPr lang="fr-FR" sz="1200">
                        <a:effectLst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Refait des quiz sur plusieurs chapitres avant les partiels.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“Je vois mieux mes points faibles, je révise moins au hasard.”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Confiante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L’historique doit rester lisible et utile, pas juste une liste de dates.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4298123"/>
                  </a:ext>
                </a:extLst>
              </a:tr>
              <a:tr h="436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Recommandation</a:t>
                      </a:r>
                      <a:endParaRPr lang="fr-FR" sz="1200">
                        <a:effectLst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Partage l’outil à ses amies de promo.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“Si ça marche pour moi, ça peut aider le groupe.”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Enthousiaste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Prévoir plus tard un partage de quiz ou de session de révision.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2017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5365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3BC09A-652A-6FBD-85A2-F5DC41CBA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D2402F6-3F80-760D-B830-26E3574061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945FA0-F886-D875-7D03-AB61393559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8E76DB-6ABB-80C8-01FE-2F81D0FF7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7101F-EBE5-9568-B6AE-0C1521622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56C470-E6B8-D628-93B8-DFE1B51D5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019322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Artefacts de cadrage (4/7) - Story </a:t>
            </a:r>
            <a:r>
              <a:rPr lang="fr-FR" sz="4000" err="1">
                <a:solidFill>
                  <a:srgbClr val="FFFFFF"/>
                </a:solidFill>
              </a:rPr>
              <a:t>Map</a:t>
            </a:r>
            <a:endParaRPr lang="fr-FR" err="1"/>
          </a:p>
        </p:txBody>
      </p:sp>
      <p:sp>
        <p:nvSpPr>
          <p:cNvPr id="20" name="Espace réservé du contenu 19">
            <a:extLst>
              <a:ext uri="{FF2B5EF4-FFF2-40B4-BE49-F238E27FC236}">
                <a16:creationId xmlns:a16="http://schemas.microsoft.com/office/drawing/2014/main" id="{2D2A23D3-C486-EDB0-5006-2CDDD13AD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29" y="1825625"/>
            <a:ext cx="11241313" cy="722767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fr-FR" sz="2400"/>
              <a:t>Vue d'ensemble du produit présentant le flux utilisateur et les fonctionnalités correspondantes</a:t>
            </a:r>
            <a:endParaRPr lang="fr-FR"/>
          </a:p>
        </p:txBody>
      </p:sp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4E440A02-2D88-8570-57DA-45BC2EB8F1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91391"/>
              </p:ext>
            </p:extLst>
          </p:nvPr>
        </p:nvGraphicFramePr>
        <p:xfrm>
          <a:off x="166914" y="2713323"/>
          <a:ext cx="11910595" cy="398974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93793">
                  <a:extLst>
                    <a:ext uri="{9D8B030D-6E8A-4147-A177-3AD203B41FA5}">
                      <a16:colId xmlns:a16="http://schemas.microsoft.com/office/drawing/2014/main" val="2016288700"/>
                    </a:ext>
                  </a:extLst>
                </a:gridCol>
                <a:gridCol w="1520501">
                  <a:extLst>
                    <a:ext uri="{9D8B030D-6E8A-4147-A177-3AD203B41FA5}">
                      <a16:colId xmlns:a16="http://schemas.microsoft.com/office/drawing/2014/main" val="2880257461"/>
                    </a:ext>
                  </a:extLst>
                </a:gridCol>
                <a:gridCol w="2407461">
                  <a:extLst>
                    <a:ext uri="{9D8B030D-6E8A-4147-A177-3AD203B41FA5}">
                      <a16:colId xmlns:a16="http://schemas.microsoft.com/office/drawing/2014/main" val="1625575145"/>
                    </a:ext>
                  </a:extLst>
                </a:gridCol>
                <a:gridCol w="2407461">
                  <a:extLst>
                    <a:ext uri="{9D8B030D-6E8A-4147-A177-3AD203B41FA5}">
                      <a16:colId xmlns:a16="http://schemas.microsoft.com/office/drawing/2014/main" val="2333380852"/>
                    </a:ext>
                  </a:extLst>
                </a:gridCol>
                <a:gridCol w="823605">
                  <a:extLst>
                    <a:ext uri="{9D8B030D-6E8A-4147-A177-3AD203B41FA5}">
                      <a16:colId xmlns:a16="http://schemas.microsoft.com/office/drawing/2014/main" val="2227495234"/>
                    </a:ext>
                  </a:extLst>
                </a:gridCol>
                <a:gridCol w="823605">
                  <a:extLst>
                    <a:ext uri="{9D8B030D-6E8A-4147-A177-3AD203B41FA5}">
                      <a16:colId xmlns:a16="http://schemas.microsoft.com/office/drawing/2014/main" val="1122664771"/>
                    </a:ext>
                  </a:extLst>
                </a:gridCol>
                <a:gridCol w="2534169">
                  <a:extLst>
                    <a:ext uri="{9D8B030D-6E8A-4147-A177-3AD203B41FA5}">
                      <a16:colId xmlns:a16="http://schemas.microsoft.com/office/drawing/2014/main" val="4036786266"/>
                    </a:ext>
                  </a:extLst>
                </a:gridCol>
              </a:tblGrid>
              <a:tr h="3010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Activité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Étape utilisateur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Stories étudiant existantes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Stories Mme Lefèvre ajoutées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Release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Priorité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Remarque humaine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2412882"/>
                  </a:ext>
                </a:extLst>
              </a:tr>
              <a:tr h="6021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S’inscrire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Créer un compte et se connecter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F1 - inscription, validation email, connexion, reset, profil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Créer/ouvrir un accès enseignant simple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R1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MUST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effectLst/>
                        </a:rPr>
                        <a:t>Ne pas refaire l’</a:t>
                      </a:r>
                      <a:r>
                        <a:rPr lang="fr-FR" sz="1400" dirty="0" err="1">
                          <a:effectLst/>
                        </a:rPr>
                        <a:t>auth</a:t>
                      </a:r>
                      <a:r>
                        <a:rPr lang="fr-FR" sz="1400" dirty="0">
                          <a:effectLst/>
                        </a:rPr>
                        <a:t> : on réutilise ce qui marche déjà.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6215517"/>
                  </a:ext>
                </a:extLst>
              </a:tr>
              <a:tr h="6021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Fournir un cours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Uploader un PDF ou coller un texte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F2 - PDF &lt;= 5 Mo ou texte &gt;= 200 caractères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Préparer un quiz depuis un cours de Communication BTS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R1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MUST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Le même flux sert aux étudiants et à Mme Lefèvre.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015967"/>
                  </a:ext>
                </a:extLst>
              </a:tr>
              <a:tr h="6021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Générer le quiz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Obtenir 10 QCM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F3 - génération automatique par LLM local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Prévisualiser rapidement les questions avant usage en classe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R2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SHOULD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Utile pour l’enseignante, mais pas indispensable à la démo R1.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2471167"/>
                  </a:ext>
                </a:extLst>
              </a:tr>
              <a:tr h="6021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Répondre et corriger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Soumettre les réponses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F4 - correction automatique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Voir les réponses de ses 28 étudiants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R1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MUST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C’est le vrai besoin J1 : elle veut voir qui décroche.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4669888"/>
                  </a:ext>
                </a:extLst>
              </a:tr>
              <a:tr h="6021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Suivre la progression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Voir score et historique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F5/F6 - score détaillé + historique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Vue classe : score moyen, scores faibles, lacunes visibles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R1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MUST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On reste minimal : lisible, pas un gros module prof.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0344383"/>
                  </a:ext>
                </a:extLst>
              </a:tr>
              <a:tr h="6021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Accompagner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Recevoir un conseil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Révision des erreurs déjà fournie en démo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Envoyer un conseil personnalisé aux étudiants en difficulté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R2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MUST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effectLst/>
                        </a:rPr>
                        <a:t>Prometteur, mais trop risqué avant stabilisation.</a:t>
                      </a:r>
                      <a:endParaRPr lang="fr-FR" sz="1400" dirty="0">
                        <a:effectLst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47397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9962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E6A93B-DBD1-36CE-18E0-8B8AD75BB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7C0F5C1-D491-DA0A-01FC-9BB486560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E781E5-D5F4-9DC5-4EA9-0AB478352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BD136D-E94D-67FD-2630-247E87CC61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07261A-D836-89D0-AD2F-317748A89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32B9943-7180-9AF7-CDFD-AA50D3F274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7065531-1715-2C05-BCEA-EBAE58875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019322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Artefacts de cadrage (5/7) - Release Planning</a:t>
            </a:r>
            <a:endParaRPr lang="fr-FR" err="1"/>
          </a:p>
        </p:txBody>
      </p:sp>
      <p:pic>
        <p:nvPicPr>
          <p:cNvPr id="3" name="Image 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DEF8A0D1-C462-DBD2-B3A2-9D41C4AE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14" y="3220309"/>
            <a:ext cx="11908972" cy="1222923"/>
          </a:xfrm>
          <a:prstGeom prst="rect">
            <a:avLst/>
          </a:prstGeom>
        </p:spPr>
      </p:pic>
      <p:sp>
        <p:nvSpPr>
          <p:cNvPr id="6" name="Espace réservé du contenu 19">
            <a:extLst>
              <a:ext uri="{FF2B5EF4-FFF2-40B4-BE49-F238E27FC236}">
                <a16:creationId xmlns:a16="http://schemas.microsoft.com/office/drawing/2014/main" id="{A73A3140-312F-D291-64C8-DFB909477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29" y="1825625"/>
            <a:ext cx="11241313" cy="722767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fr-FR" sz="2400" dirty="0"/>
              <a:t>Calendrier des livrables de release avec le </a:t>
            </a:r>
            <a:r>
              <a:rPr lang="fr-FR" sz="2400"/>
              <a:t>périmètre inclus/exclus et une note de décision </a:t>
            </a:r>
          </a:p>
        </p:txBody>
      </p:sp>
    </p:spTree>
    <p:extLst>
      <p:ext uri="{BB962C8B-B14F-4D97-AF65-F5344CB8AC3E}">
        <p14:creationId xmlns:p14="http://schemas.microsoft.com/office/powerpoint/2010/main" val="467786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0E2101-52A9-F78D-5A7F-BEAE9F0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2265A4-FCAA-D972-97E4-5D256FC0B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918A46-6B0A-0D8B-A087-E5F7119F61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710CEA-6C7E-927D-507C-72ADA25C1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61A331-1349-388F-7931-0166E2E82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ED893-1FC3-6844-4F73-437EB5CE02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5C03FAC-2EC6-2D2B-81DB-77F8F4579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019322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Artefacts de cadrage (6/7) - Product </a:t>
            </a:r>
            <a:r>
              <a:rPr lang="fr-FR" sz="4000" err="1">
                <a:solidFill>
                  <a:srgbClr val="FFFFFF"/>
                </a:solidFill>
              </a:rPr>
              <a:t>Backlog</a:t>
            </a:r>
            <a:endParaRPr lang="fr-FR" err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3411D8-9943-3E36-F805-9F44BD4A6D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0" y="0"/>
            <a:ext cx="12192000" cy="6858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" name="ZoneTexte 3">
            <a:extLst>
              <a:ext uri="{FF2B5EF4-FFF2-40B4-BE49-F238E27FC236}">
                <a16:creationId xmlns:a16="http://schemas.microsoft.com/office/drawing/2014/main" id="{A252B4FB-0338-77AA-04BA-10833D54EA90}"/>
              </a:ext>
            </a:extLst>
          </p:cNvPr>
          <p:cNvSpPr txBox="1"/>
          <p:nvPr/>
        </p:nvSpPr>
        <p:spPr>
          <a:xfrm>
            <a:off x="457742" y="2648315"/>
            <a:ext cx="4230914" cy="135081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fr-FR" sz="2400" b="1"/>
              <a:t>Objectif</a:t>
            </a:r>
            <a:endParaRPr lang="en-US" sz="2400" b="1"/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fr-FR" sz="1300"/>
              <a:t>Organiser les besoins utilisateurs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fr-FR" sz="1300"/>
              <a:t>Visualiser le parcours utilisateur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fr-FR" sz="1300"/>
              <a:t>Prioriser les fonctionnalités </a:t>
            </a:r>
            <a:endParaRPr lang="fr-FR"/>
          </a:p>
        </p:txBody>
      </p:sp>
      <p:sp>
        <p:nvSpPr>
          <p:cNvPr id="7" name="ZoneTexte 5">
            <a:extLst>
              <a:ext uri="{FF2B5EF4-FFF2-40B4-BE49-F238E27FC236}">
                <a16:creationId xmlns:a16="http://schemas.microsoft.com/office/drawing/2014/main" id="{3238B412-17AE-29F2-899B-BD02C1F06C5F}"/>
              </a:ext>
            </a:extLst>
          </p:cNvPr>
          <p:cNvSpPr txBox="1"/>
          <p:nvPr/>
        </p:nvSpPr>
        <p:spPr>
          <a:xfrm>
            <a:off x="4586189" y="1827824"/>
            <a:ext cx="4049485" cy="2724924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90000"/>
              </a:lnSpc>
              <a:spcBef>
                <a:spcPts val="1000"/>
              </a:spcBef>
            </a:pPr>
            <a:endParaRPr lang="fr-FR" sz="2000"/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endParaRPr lang="fr-FR"/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fr-FR" sz="2400" b="1"/>
              <a:t>Contenu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fr-FR" sz="1300"/>
              <a:t>Activités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fr-FR" sz="1300"/>
              <a:t>User Stories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fr-FR" sz="1300"/>
              <a:t>Priorités (</a:t>
            </a:r>
            <a:r>
              <a:rPr lang="fr-FR" sz="1300" b="1">
                <a:solidFill>
                  <a:srgbClr val="FF0000"/>
                </a:solidFill>
              </a:rPr>
              <a:t>Must </a:t>
            </a:r>
            <a:r>
              <a:rPr lang="fr-FR" sz="1300"/>
              <a:t>/ </a:t>
            </a:r>
            <a:r>
              <a:rPr lang="fr-FR" sz="1300" err="1">
                <a:solidFill>
                  <a:srgbClr val="FFC000"/>
                </a:solidFill>
              </a:rPr>
              <a:t>Should</a:t>
            </a:r>
            <a:r>
              <a:rPr lang="fr-FR" sz="1300">
                <a:solidFill>
                  <a:srgbClr val="FFC000"/>
                </a:solidFill>
              </a:rPr>
              <a:t> </a:t>
            </a:r>
            <a:r>
              <a:rPr lang="fr-FR" sz="1300"/>
              <a:t>/ </a:t>
            </a:r>
            <a:r>
              <a:rPr lang="fr-FR" sz="1300" err="1">
                <a:solidFill>
                  <a:srgbClr val="92D050"/>
                </a:solidFill>
              </a:rPr>
              <a:t>Could</a:t>
            </a:r>
            <a:r>
              <a:rPr lang="fr-FR" sz="1300"/>
              <a:t>)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fr-FR" sz="1300"/>
              <a:t>Releases </a:t>
            </a:r>
          </a:p>
          <a:p>
            <a:endParaRPr lang="fr-FR"/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82CAA494-F388-D850-12AC-C84D61A141B3}"/>
              </a:ext>
            </a:extLst>
          </p:cNvPr>
          <p:cNvSpPr txBox="1"/>
          <p:nvPr/>
        </p:nvSpPr>
        <p:spPr>
          <a:xfrm>
            <a:off x="8333474" y="2288599"/>
            <a:ext cx="2743200" cy="2828467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endParaRPr lang="fr-FR" sz="1400"/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fr-FR" sz="2400" b="1"/>
              <a:t>Utilité</a:t>
            </a:r>
            <a:endParaRPr lang="en-US" sz="2400" b="1"/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fr-FR" sz="1400"/>
              <a:t>Vision globale du projet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fr-FR" sz="1400"/>
              <a:t>Planification des versions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fr-FR" sz="1400"/>
              <a:t>Aide à la gestion du projet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fr-FR" sz="1400"/>
              <a:t>Facilite le travail en équipe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endParaRPr lang="fr-FR" sz="2800"/>
          </a:p>
          <a:p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3242B080-DD46-FFFF-0330-B7C1084D55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72" y="4826679"/>
            <a:ext cx="10134600" cy="145732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366992AF-7A95-A1BB-3C6D-41AEB560D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" y="4632779"/>
            <a:ext cx="10147300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7989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607D97-E77D-8AA9-6259-3BD9D28D3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2326ECA-2591-55A3-1253-BD89AAF54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4D7987-0BD5-E13D-2DC0-3272EC76FE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0689F1-65C4-A5F6-E65D-C3AC4CBA7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CD23D5-64A7-384F-2A05-6910B21F1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B99EE5-4B51-374F-BCBB-E1337BD1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508744E-9533-012D-B1F1-6F34B5FBD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019322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Artefacts de cadrage (7/7) - Sprint </a:t>
            </a:r>
            <a:r>
              <a:rPr lang="fr-FR" sz="4000" err="1">
                <a:solidFill>
                  <a:srgbClr val="FFFFFF"/>
                </a:solidFill>
              </a:rPr>
              <a:t>Backlog</a:t>
            </a:r>
            <a:endParaRPr lang="fr-FR" err="1"/>
          </a:p>
        </p:txBody>
      </p:sp>
      <p:sp>
        <p:nvSpPr>
          <p:cNvPr id="3" name="Espace réservé du contenu 19">
            <a:extLst>
              <a:ext uri="{FF2B5EF4-FFF2-40B4-BE49-F238E27FC236}">
                <a16:creationId xmlns:a16="http://schemas.microsoft.com/office/drawing/2014/main" id="{2D2A23D3-C486-EDB0-5006-2CDDD13AD874}"/>
              </a:ext>
            </a:extLst>
          </p:cNvPr>
          <p:cNvSpPr>
            <a:spLocks noGrp="1"/>
          </p:cNvSpPr>
          <p:nvPr/>
        </p:nvSpPr>
        <p:spPr>
          <a:xfrm>
            <a:off x="156029" y="1825625"/>
            <a:ext cx="11241313" cy="722767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400" dirty="0"/>
              <a:t>Sous-ensemble du Product </a:t>
            </a:r>
            <a:r>
              <a:rPr lang="fr-FR" sz="2400" dirty="0" err="1"/>
              <a:t>Backlog</a:t>
            </a:r>
            <a:r>
              <a:rPr lang="fr-FR" sz="2400" dirty="0"/>
              <a:t> pour la </a:t>
            </a:r>
            <a:r>
              <a:rPr lang="fr-FR" sz="2400" dirty="0" err="1"/>
              <a:t>livr</a:t>
            </a:r>
            <a:r>
              <a:rPr lang="fr-FR" sz="2400" dirty="0"/>
              <a:t>aison en Sprint </a:t>
            </a:r>
            <a:r>
              <a:rPr lang="fr-FR" sz="2400" i="1" dirty="0"/>
              <a:t>n</a:t>
            </a:r>
            <a:r>
              <a:rPr lang="fr-FR" sz="2400" dirty="0"/>
              <a:t> avec pour chaque story ses critères d'acceptation</a:t>
            </a:r>
            <a:endParaRPr lang="fr-FR" dirty="0"/>
          </a:p>
        </p:txBody>
      </p:sp>
      <p:pic>
        <p:nvPicPr>
          <p:cNvPr id="4" name="Image 3" descr="Une image contenant texte, nombr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3199C09D-454B-09E8-3F42-06E0BEAF9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7" y="2908545"/>
            <a:ext cx="11908972" cy="2862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767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BE76F4-32AC-C650-C418-C4DA3135E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7F78649-FBBE-18AA-312B-732B68BBF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EDF016-4BDA-A062-761F-985246346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D8F9A4-F858-BD1B-C7B3-A3C618DA92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129465-6F6D-60D2-8FE3-7948828D8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1A0ABC-3BBD-391A-CACB-C48903F79A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5AD07D9-F479-B317-9D50-0AF87417F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570" y="280024"/>
            <a:ext cx="10019322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5 perturbations, quelles conséquences ?</a:t>
            </a:r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660029A-E3E1-221B-AF7C-201ACD771B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86" y="1724025"/>
            <a:ext cx="10929256" cy="4873852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>
              <a:buFont typeface="Courier New,monospace" panose="020B0604020202020204" pitchFamily="34" charset="0"/>
              <a:buChar char="o"/>
            </a:pPr>
            <a:r>
              <a:rPr lang="fr-FR"/>
              <a:t>Chaque perturbation présentait une situation venant bousculer le planning</a:t>
            </a:r>
            <a:endParaRPr lang="en-US"/>
          </a:p>
          <a:p>
            <a:pPr lvl="2">
              <a:buFont typeface="Wingdings,sans-serif" panose="020B0604020202020204" pitchFamily="34" charset="0"/>
              <a:buChar char="§"/>
            </a:pPr>
            <a:r>
              <a:rPr lang="fr-FR"/>
              <a:t>J1 : Nouveau Persona : Mme Lefèvre, enseignante, devenue une 2e cible prioritaire</a:t>
            </a:r>
            <a:endParaRPr lang="en-US"/>
          </a:p>
          <a:p>
            <a:pPr lvl="3">
              <a:buFont typeface="Wingdings,sans-serif" panose="020B0604020202020204" pitchFamily="34" charset="0"/>
              <a:buChar char="§"/>
            </a:pPr>
            <a:r>
              <a:rPr lang="fr-FR" dirty="0"/>
              <a:t>Mise à jour des artefacts : prise en compte de nouveaux besoins, analyse Customer Journey, User Stories, priorisation </a:t>
            </a:r>
            <a:r>
              <a:rPr lang="fr-FR" dirty="0" err="1"/>
              <a:t>MoSCoW</a:t>
            </a:r>
            <a:endParaRPr lang="en-US" dirty="0" err="1"/>
          </a:p>
          <a:p>
            <a:pPr lvl="2">
              <a:buFont typeface="Wingdings,sans-serif" panose="020B0604020202020204" pitchFamily="34" charset="0"/>
              <a:buChar char="§"/>
            </a:pPr>
            <a:r>
              <a:rPr lang="fr-FR" dirty="0"/>
              <a:t>J2 : Décision technique à prendre dû à une latence </a:t>
            </a:r>
            <a:r>
              <a:rPr lang="fr-FR"/>
              <a:t>inacceptable</a:t>
            </a:r>
            <a:endParaRPr lang="fr-FR" dirty="0"/>
          </a:p>
          <a:p>
            <a:pPr lvl="3">
              <a:buFont typeface="Wingdings,sans-serif" panose="020B0604020202020204" pitchFamily="34" charset="0"/>
              <a:buChar char="§"/>
            </a:pPr>
            <a:r>
              <a:rPr lang="fr-FR" dirty="0"/>
              <a:t>Rédaction d'un benchmark, d'un ADR et mise à jour du </a:t>
            </a:r>
            <a:r>
              <a:rPr lang="fr-FR" dirty="0" err="1"/>
              <a:t>backlog</a:t>
            </a:r>
            <a:endParaRPr lang="fr-FR"/>
          </a:p>
          <a:p>
            <a:pPr lvl="2">
              <a:buFont typeface="Wingdings,sans-serif" panose="020B0604020202020204" pitchFamily="34" charset="0"/>
              <a:buChar char="§"/>
            </a:pPr>
            <a:r>
              <a:rPr lang="fr-FR" dirty="0"/>
              <a:t>J3 : exigence de sécurité à caractère urgent dû à un problème de prompt injection</a:t>
            </a:r>
            <a:endParaRPr lang="en-US" dirty="0"/>
          </a:p>
          <a:p>
            <a:pPr lvl="3">
              <a:buFont typeface="Wingdings,sans-serif" panose="020B0604020202020204" pitchFamily="34" charset="0"/>
              <a:buChar char="§"/>
            </a:pPr>
            <a:r>
              <a:rPr lang="fr-FR"/>
              <a:t>Préparation de jeu de tests (prompts variés)</a:t>
            </a:r>
          </a:p>
          <a:p>
            <a:pPr lvl="3">
              <a:buFont typeface="Wingdings,sans-serif" panose="020B0604020202020204" pitchFamily="34" charset="0"/>
              <a:buChar char="§"/>
            </a:pPr>
            <a:r>
              <a:rPr lang="fr-FR"/>
              <a:t>rédaction d'une note de sécurité, d'audit, de veille</a:t>
            </a:r>
          </a:p>
          <a:p>
            <a:pPr lvl="2">
              <a:buFont typeface="Wingdings,sans-serif" panose="020B0604020202020204" pitchFamily="34" charset="0"/>
              <a:buChar char="§"/>
            </a:pPr>
            <a:r>
              <a:rPr lang="fr-FR" dirty="0"/>
              <a:t>J3-bis : exigence </a:t>
            </a:r>
            <a:r>
              <a:rPr lang="fr-FR"/>
              <a:t>réglementaire RGPD</a:t>
            </a:r>
            <a:endParaRPr lang="fr-FR" dirty="0"/>
          </a:p>
          <a:p>
            <a:pPr lvl="3">
              <a:buFont typeface="Wingdings,sans-serif" panose="020B0604020202020204" pitchFamily="34" charset="0"/>
              <a:buChar char="§"/>
            </a:pPr>
            <a:r>
              <a:rPr lang="fr-FR"/>
              <a:t>Mise à jour de l'application</a:t>
            </a:r>
          </a:p>
          <a:p>
            <a:pPr lvl="3">
              <a:buFont typeface="Wingdings,sans-serif" panose="020B0604020202020204" pitchFamily="34" charset="0"/>
              <a:buChar char="§"/>
            </a:pPr>
            <a:r>
              <a:rPr lang="fr-FR"/>
              <a:t>Rédaction d'une politique de rétention, et d'un email de réponse à un utilisateur</a:t>
            </a:r>
          </a:p>
          <a:p>
            <a:pPr lvl="2">
              <a:buFont typeface="Wingdings,sans-serif" panose="020B0604020202020204" pitchFamily="34" charset="0"/>
              <a:buChar char="§"/>
            </a:pPr>
            <a:r>
              <a:rPr lang="fr-FR"/>
              <a:t>J4: buzz national, passage à grande échelle</a:t>
            </a:r>
          </a:p>
          <a:p>
            <a:pPr lvl="3">
              <a:buFont typeface="Wingdings,sans-serif" panose="020B0604020202020204" pitchFamily="34" charset="0"/>
              <a:buChar char="§"/>
            </a:pPr>
            <a:r>
              <a:rPr lang="fr-FR"/>
              <a:t>Mise à jour des artefacts, analyse de risques, pilotage du nouveau sprint</a:t>
            </a:r>
            <a:endParaRPr lang="fr-FR" dirty="0"/>
          </a:p>
          <a:p>
            <a:pPr lvl="3">
              <a:buFont typeface="Wingdings,sans-serif" panose="020B0604020202020204" pitchFamily="34" charset="0"/>
              <a:buChar char="§"/>
            </a:pPr>
            <a:r>
              <a:rPr lang="fr-FR"/>
              <a:t>PoC sur l'axe de langue</a:t>
            </a:r>
            <a:endParaRPr lang="fr-FR" dirty="0"/>
          </a:p>
          <a:p>
            <a:pPr lvl="2">
              <a:buFont typeface="Wingdings,sans-serif" panose="020B0604020202020204" pitchFamily="34" charset="0"/>
              <a:buChar char="§"/>
            </a:pPr>
            <a:endParaRPr lang="fr-FR" dirty="0"/>
          </a:p>
          <a:p>
            <a:pPr lvl="3">
              <a:buFont typeface="Wingdings,sans-serif" panose="020B0604020202020204" pitchFamily="34" charset="0"/>
              <a:buChar char="§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0787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858AE3-8D8E-05F2-3445-7C9BBBAEC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79119AF-6B6A-CF53-048A-E371EE4AB4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A99676-5672-7C6F-ACAE-7C3824DB95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7CB1D8-D917-A6B7-2E2B-2924DB708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C4F7E6-F7BA-FE78-A641-7DF2E34E4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1A4366-0012-DFEB-114B-B0FE0A11E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7F13275-A5BC-E252-6A9C-738A2A43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019322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Gestion de projet au sein du groupe 4</a:t>
            </a:r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230A7169-F934-F8B0-7E5A-8C6255526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51885" cy="483756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sz="2200"/>
              <a:t>Chef de projet : Navid</a:t>
            </a:r>
            <a:endParaRPr lang="fr-FR" sz="22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fr-FR" sz="2200"/>
              <a:t>Coordination des tâches, revue des travaux (PR)</a:t>
            </a:r>
            <a:endParaRPr lang="fr-FR" sz="2200" dirty="0"/>
          </a:p>
          <a:p>
            <a:r>
              <a:rPr lang="fr-FR" sz="2200"/>
              <a:t>Travail en groupe complet sur les artefacts afin d'arriver à une décision commune pour la suite du projet</a:t>
            </a:r>
            <a:endParaRPr lang="fr-FR" sz="2200" dirty="0"/>
          </a:p>
          <a:p>
            <a:r>
              <a:rPr lang="fr-FR" sz="2200"/>
              <a:t>GitHub Issues : documentation des tâches dans l'équipe</a:t>
            </a:r>
            <a:endParaRPr lang="fr-FR" sz="2200" dirty="0"/>
          </a:p>
          <a:p>
            <a:r>
              <a:rPr lang="fr-FR" sz="2200" dirty="0"/>
              <a:t>Inconvénient d'être 7 : parfois difficile de séparer les tâches entre les membres du groupe ==&gt; présence de </a:t>
            </a:r>
            <a:r>
              <a:rPr lang="fr-FR" sz="2200" dirty="0" err="1"/>
              <a:t>commits</a:t>
            </a:r>
            <a:r>
              <a:rPr lang="fr-FR" sz="2200" dirty="0"/>
              <a:t> avec mention de session de groupe</a:t>
            </a:r>
            <a:endParaRPr lang="en-US" sz="2200"/>
          </a:p>
          <a:p>
            <a:r>
              <a:rPr lang="fr-FR" sz="2200"/>
              <a:t>Avantage d'être 7 : travailler sur les parties bonus comme le code</a:t>
            </a:r>
            <a:endParaRPr lang="en-US" sz="2200"/>
          </a:p>
        </p:txBody>
      </p:sp>
    </p:spTree>
    <p:extLst>
      <p:ext uri="{BB962C8B-B14F-4D97-AF65-F5344CB8AC3E}">
        <p14:creationId xmlns:p14="http://schemas.microsoft.com/office/powerpoint/2010/main" val="1684013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C9CEA4-8851-36BF-075C-E330F221C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3C7A13-340A-9666-6D96-B45FCF003F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0870BF-EB5D-08B7-90FE-7A8FBFFDD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47BF6A-12E7-EF82-D8E7-16812F8E4A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04B7C0-0968-2CB7-DFC4-8DA4F5DDB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399113-BBD3-7F88-7719-3CF61900F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1F9AF22-4AB4-0442-899A-ACD9CAA32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019322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Gestion de projet au sein du groupe 4</a:t>
            </a:r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3A6F477E-4875-1B86-EF45-C50721A9F4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51885" cy="483756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Retour réflexif sur les perturbations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fr-FR"/>
              <a:t>non seulement à l'échelle de l'application, mais des aléas (ex: communications Teams canal commun) imprévisibles sont survenus ==&gt; changement de priorisation des tâches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fr-FR" dirty="0"/>
              <a:t>On a vu l'avantage d'avoir un chef de projet dans l'équipe qui aide à </a:t>
            </a:r>
            <a:r>
              <a:rPr lang="fr-FR"/>
              <a:t>gérer les moments de crise</a:t>
            </a:r>
            <a:endParaRPr lang="fr-FR" dirty="0"/>
          </a:p>
          <a:p>
            <a:pPr lvl="2">
              <a:buFont typeface="Wingdings" panose="020B0604020202020204" pitchFamily="34" charset="0"/>
              <a:buChar char="§"/>
            </a:pPr>
            <a:r>
              <a:rPr lang="fr-FR" dirty="0"/>
              <a:t>S'assure que toute le monde ait compris le </a:t>
            </a:r>
            <a:r>
              <a:rPr lang="fr-FR"/>
              <a:t>besoin et le résultat attendu</a:t>
            </a:r>
            <a:endParaRPr lang="fr-FR" dirty="0"/>
          </a:p>
          <a:p>
            <a:pPr lvl="2">
              <a:buFont typeface="Wingdings" panose="020B0604020202020204" pitchFamily="34" charset="0"/>
              <a:buChar char="§"/>
            </a:pPr>
            <a:r>
              <a:rPr lang="fr-FR"/>
              <a:t>Même si cela ajoute du travail, la coordination est gérable grâce à la documentation des tâches et la traçabilité des artefacts</a:t>
            </a:r>
            <a:endParaRPr lang="fr-FR" dirty="0"/>
          </a:p>
          <a:p>
            <a:pPr lvl="1">
              <a:buFont typeface="Courier New" panose="020B0604020202020204" pitchFamily="34" charset="0"/>
              <a:buChar char="o"/>
            </a:pPr>
            <a:endParaRPr lang="fr-FR" dirty="0"/>
          </a:p>
          <a:p>
            <a:pPr lvl="2">
              <a:buFont typeface="Wingdings" panose="020B0604020202020204" pitchFamily="34" charset="0"/>
              <a:buChar char="§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75927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A06CA7-FCC5-D6E5-4C49-98DA48546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43FF06F-BE05-73C1-FEE4-C24A5D85E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 LIVE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24554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Grand écran</PresentationFormat>
  <Slides>14</Slides>
  <Notes>0</Notes>
  <HiddenSlides>0</HiddenSlide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5" baseType="lpstr">
      <vt:lpstr>Thème Office</vt:lpstr>
      <vt:lpstr>EduTutor IA</vt:lpstr>
      <vt:lpstr>Contexte</vt:lpstr>
      <vt:lpstr>Comment reprendre la base existante ?</vt:lpstr>
      <vt:lpstr>Artefacts de cadrage (1/7) - Product Vision Board</vt:lpstr>
      <vt:lpstr>Artefacts de cadrage (2/7) - Personas</vt:lpstr>
      <vt:lpstr>Artefacts de cadrage (3/7) - Customer Journey</vt:lpstr>
      <vt:lpstr>Artefacts de cadrage (4/7) - Story Map</vt:lpstr>
      <vt:lpstr>Artefacts de cadrage (5/7) - Release Planning</vt:lpstr>
      <vt:lpstr>Artefacts de cadrage (6/7) - Product Backlog</vt:lpstr>
      <vt:lpstr>Artefacts de cadrage (7/7) - Sprint Backlog</vt:lpstr>
      <vt:lpstr>5 perturbations, quelles conséquences ?</vt:lpstr>
      <vt:lpstr>Gestion de projet au sein du groupe 4</vt:lpstr>
      <vt:lpstr>Gestion de projet au sein du groupe 4</vt:lpstr>
      <vt:lpstr>DEMO LIVE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1474</cp:revision>
  <dcterms:created xsi:type="dcterms:W3CDTF">2026-07-02T10:18:37Z</dcterms:created>
  <dcterms:modified xsi:type="dcterms:W3CDTF">2026-07-02T15:39:06Z</dcterms:modified>
</cp:coreProperties>
</file>