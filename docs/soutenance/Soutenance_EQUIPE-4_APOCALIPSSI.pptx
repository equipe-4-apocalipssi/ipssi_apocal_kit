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5" r:id="rId13"/>
    <p:sldId id="279" r:id="rId14"/>
    <p:sldId id="276" r:id="rId15"/>
    <p:sldId id="280" r:id="rId16"/>
    <p:sldId id="272" r:id="rId17"/>
    <p:sldId id="278" r:id="rId18"/>
    <p:sldId id="277" r:id="rId19"/>
    <p:sldId id="268" r:id="rId20"/>
    <p:sldId id="270" r:id="rId21"/>
    <p:sldId id="274" r:id="rId22"/>
    <p:sldId id="267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CF4AEF-5E7A-EEBD-31B8-02E9BC011E17}" v="73" dt="2026-07-02T18:54:24.284"/>
    <p1510:client id="{1E7C1F29-292D-4E54-AA9E-AEF0082165D0}" v="212" dt="2026-07-02T17:35:48.239"/>
    <p1510:client id="{2A69A647-108E-88F0-1837-A4C6D79914FC}" v="1" dt="2026-07-02T21:34:52.804"/>
    <p1510:client id="{464C1BA9-FCF6-8A14-3D62-BF29192999CE}" v="11" dt="2026-07-02T19:59:57.429"/>
    <p1510:client id="{66BDA95F-C839-06E2-2BE7-BBFC13BAF76E}" v="17" dt="2026-07-02T16:13:04.361"/>
    <p1510:client id="{6C3E3B77-86DA-935C-FEF8-28511740EA0C}" v="1959" dt="2026-07-02T20:18:16.428"/>
    <p1510:client id="{B2AB4E47-2886-0EDE-0429-1DBBC4564873}" v="909" dt="2026-07-02T21:31:24.290"/>
    <p1510:client id="{BFA4EE71-EEE2-4BDB-A22B-3B1EE3DBAA74}" v="25" dt="2026-07-02T16:14:21.640"/>
    <p1510:client id="{C2E6060D-2B25-374A-E26B-A29167783A6C}" v="213" dt="2026-07-02T14:32:02.098"/>
    <p1510:client id="{DF9106CA-7BA3-93F1-FD4F-05202ACFF070}" v="946" dt="2026-07-02T12:44:49.947"/>
    <p1510:client id="{E9038076-5FA2-DBA6-F6CF-EDD352EB1222}" v="16" dt="2026-07-02T16:10:11.3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02/07/2026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8" name="Rectangle 8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50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EduTutor IA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i="1" u="sng"/>
              <a:t>EQUIPE 4 – APOCALIPSSI</a:t>
            </a:r>
            <a:endParaRPr lang="fr-FR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i="1"/>
              <a:t>BEN MAHFOUDH Chaima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i="1"/>
              <a:t>DACHRAOUI Mohamed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i="1"/>
              <a:t>LIÉNARD Romain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i="1"/>
              <a:t>BOUFALOUS Nassim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i="1"/>
              <a:t>SABETE ISFAHANI Navid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i="1"/>
              <a:t>OUCHEFOUNE Rima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i="1"/>
              <a:t>BACHIR Ryann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D6799BB-614D-2A08-9DAE-78AA3AC55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B13372-2C09-D8C0-3E84-0384DC11F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107740"/>
            <a:ext cx="9724031" cy="2275472"/>
          </a:xfrm>
        </p:spPr>
        <p:txBody>
          <a:bodyPr anchor="ctr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fr-FR" sz="2000"/>
              <a:t>Le marché des outils IA pour réviser est en explosion : Wilgo, Leo, etc. ==&gt; promesse commune de générer des fiches de révision, des quiz, des résumés pour aider les étudiants dans leur cours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fr-FR" sz="2000" err="1"/>
              <a:t>EduTutor</a:t>
            </a:r>
            <a:r>
              <a:rPr lang="fr-FR" sz="2000"/>
              <a:t> IA veut se positionner avec une approche différente : des prompts métier pensés pour les enseignants, un ancrage pédagogique réel, une conformité RGPD.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fr-FR" sz="2000"/>
              <a:t>Reprise du projet abandonné par une autre équipe, une base a déjà été développée et est bien plus riche qu'un squelette</a:t>
            </a:r>
          </a:p>
        </p:txBody>
      </p:sp>
    </p:spTree>
    <p:extLst>
      <p:ext uri="{BB962C8B-B14F-4D97-AF65-F5344CB8AC3E}">
        <p14:creationId xmlns:p14="http://schemas.microsoft.com/office/powerpoint/2010/main" val="405128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764E8B-88BA-461B-9FC7-FF54F5635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3180CD1-90B3-B8F7-5A51-83D50A6C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4C8A7-B2BF-8010-DC70-6EFE2607D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A12372-14A7-92D4-B762-2820EBAE3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2593B0-0FE8-FD80-6FD7-43F4D94C0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263851-064C-1E4F-91DC-969875BA2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711BC9-216B-E4ED-E42C-57A709A65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Comment reprendre la base existante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C1D6D9-B908-283D-8A9B-8E6DE196A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122254"/>
            <a:ext cx="9724031" cy="3255186"/>
          </a:xfrm>
        </p:spPr>
        <p:txBody>
          <a:bodyPr anchor="ctr">
            <a:normAutofit/>
          </a:bodyPr>
          <a:lstStyle/>
          <a:p>
            <a:pPr>
              <a:buFont typeface="Calibri" panose="020B0604020202020204" pitchFamily="34" charset="0"/>
              <a:buChar char="-"/>
            </a:pPr>
            <a:r>
              <a:rPr lang="fr-FR" sz="2000"/>
              <a:t>Inventaire de la base existante : les fonctionnalités présentes, à ajouter, à finir, à jeter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fr-FR" sz="2000"/>
              <a:t>Analyse structurée des besoins : 7 </a:t>
            </a:r>
            <a:r>
              <a:rPr lang="fr-FR" sz="2000" err="1"/>
              <a:t>artefac</a:t>
            </a:r>
            <a:r>
              <a:rPr lang="fr-FR" sz="2000"/>
              <a:t>ts de cadrage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/>
              <a:t>Product Vision Board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 err="1"/>
              <a:t>Personas</a:t>
            </a:r>
            <a:endParaRPr lang="fr-FR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/>
              <a:t>Customer Journey Map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/>
              <a:t>Story </a:t>
            </a:r>
            <a:r>
              <a:rPr lang="fr-FR" sz="1800" err="1"/>
              <a:t>Map</a:t>
            </a:r>
            <a:endParaRPr lang="fr-FR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/>
              <a:t>Release Planning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/>
              <a:t>Product </a:t>
            </a:r>
            <a:r>
              <a:rPr lang="fr-FR" sz="1800" err="1"/>
              <a:t>Backlog</a:t>
            </a:r>
            <a:endParaRPr lang="fr-FR" sz="1800"/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/>
              <a:t>Sprint </a:t>
            </a:r>
            <a:r>
              <a:rPr lang="fr-FR" sz="1800" err="1"/>
              <a:t>Backlog</a:t>
            </a:r>
            <a:endParaRPr lang="fr-FR" sz="1800"/>
          </a:p>
        </p:txBody>
      </p:sp>
    </p:spTree>
    <p:extLst>
      <p:ext uri="{BB962C8B-B14F-4D97-AF65-F5344CB8AC3E}">
        <p14:creationId xmlns:p14="http://schemas.microsoft.com/office/powerpoint/2010/main" val="385455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BFF1B-1B2D-EFDE-4855-24ED51ADD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D0960B4-6C38-4B3F-0837-6CD9A0C4B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8AE416-D807-DF8D-25A3-503F30A3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CB1A21-7A17-DD21-67B9-BA13E6DF2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3F87D7-382C-A35C-0F77-E4F7513BC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AB029D-566F-9C20-C4E7-FD7742BFA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AE05693-A8CE-BE62-D9C3-29BB89BBD45B}"/>
              </a:ext>
            </a:extLst>
          </p:cNvPr>
          <p:cNvSpPr txBox="1"/>
          <p:nvPr/>
        </p:nvSpPr>
        <p:spPr>
          <a:xfrm>
            <a:off x="1371601" y="2456543"/>
            <a:ext cx="10138226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i="0" u="none" strike="noStrike">
                <a:solidFill>
                  <a:srgbClr val="2563A8"/>
                </a:solidFill>
                <a:latin typeface="Calibri"/>
                <a:ea typeface="Calibri"/>
                <a:cs typeface="Calibri"/>
              </a:rPr>
              <a:t>—  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Vision :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EduTutor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IA aide les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étudiants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à transformer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leurs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cours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quiz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utiles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et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donne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aux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enseignants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vue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pour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suivre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les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résultats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leur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classe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sans exposer les données.</a:t>
            </a:r>
          </a:p>
          <a:p>
            <a:br>
              <a:rPr lang="en-US" b="0"/>
            </a:br>
            <a:r>
              <a:rPr lang="en-US" b="1" i="0" u="none" strike="noStrike">
                <a:solidFill>
                  <a:srgbClr val="2563A8"/>
                </a:solidFill>
                <a:latin typeface="Calibri"/>
                <a:ea typeface="Calibri"/>
                <a:cs typeface="Calibri"/>
              </a:rPr>
              <a:t>— 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Cibles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: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étudiant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primaire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),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Mme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Lefèvre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enseignante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BTS (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secondaire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post-J1),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administrateur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(support),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établissement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tertiaire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).</a:t>
            </a:r>
          </a:p>
          <a:p>
            <a:br>
              <a:rPr lang="en-US" b="0"/>
            </a:br>
            <a:r>
              <a:rPr lang="en-US" b="1" i="0" u="none" strike="noStrike">
                <a:solidFill>
                  <a:srgbClr val="2563A8"/>
                </a:solidFill>
                <a:latin typeface="Calibri"/>
                <a:ea typeface="Calibri"/>
                <a:cs typeface="Calibri"/>
              </a:rPr>
              <a:t>—  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Release 1 —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mercredi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: F1-F6 stables + première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vue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enseignante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limitée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aux scores/progression.</a:t>
            </a:r>
          </a:p>
          <a:p>
            <a:br>
              <a:rPr lang="en-US" b="0"/>
            </a:br>
            <a:r>
              <a:rPr lang="en-US" b="1" i="0" u="none" strike="noStrike">
                <a:solidFill>
                  <a:srgbClr val="2563A8"/>
                </a:solidFill>
                <a:latin typeface="Calibri"/>
                <a:ea typeface="Calibri"/>
                <a:cs typeface="Calibri"/>
              </a:rPr>
              <a:t>—  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Release 2 —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jeudi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: dashboard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classe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détection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décrocheurs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fiche RGPD,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amélioration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admin.</a:t>
            </a:r>
          </a:p>
          <a:p>
            <a:br>
              <a:rPr lang="en-US" b="0"/>
            </a:br>
            <a:r>
              <a:rPr lang="en-US" b="1" i="0" u="none" strike="noStrike">
                <a:solidFill>
                  <a:srgbClr val="2563A8"/>
                </a:solidFill>
                <a:latin typeface="Calibri"/>
                <a:ea typeface="Calibri"/>
                <a:cs typeface="Calibri"/>
              </a:rPr>
              <a:t>—  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Hors scope : SSO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établissement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contrat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B2B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complet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multi-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établissement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messagerie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0" i="0" u="none" strike="noStrike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avancée</a:t>
            </a:r>
            <a:r>
              <a:rPr lang="en-US" b="0" i="0" u="none" strike="noStrike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endParaRPr lang="en-US"/>
          </a:p>
          <a:p>
            <a:pPr algn="ctr"/>
            <a:endParaRPr lang="fr-FR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6FCD38B8-CFC5-0ABB-8E1C-54454E4219F8}"/>
              </a:ext>
            </a:extLst>
          </p:cNvPr>
          <p:cNvSpPr txBox="1">
            <a:spLocks/>
          </p:cNvSpPr>
          <p:nvPr/>
        </p:nvSpPr>
        <p:spPr>
          <a:xfrm>
            <a:off x="1371599" y="281838"/>
            <a:ext cx="10019322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>
                <a:solidFill>
                  <a:srgbClr val="FFFFFF"/>
                </a:solidFill>
              </a:rPr>
              <a:t>Artefacts de cadrage (1/7) - Product Vision Board</a:t>
            </a:r>
            <a:endParaRPr lang="fr-FR" sz="4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35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8D7986-8575-6CFE-4219-DD49264B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C5D4E08-F40A-B94A-41BF-49945730C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997250-4973-4C05-B351-6AE46F49D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8D678B-4352-2CEC-8CF5-598485624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5D145D-3FC4-E043-048F-621321FCE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BF532F8-9DB0-B87F-6816-EC6E2AE6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Artefacts de cadrage (2/7) - </a:t>
            </a:r>
            <a:r>
              <a:rPr lang="fr-FR" sz="4000" err="1">
                <a:solidFill>
                  <a:srgbClr val="FFFFFF"/>
                </a:solidFill>
              </a:rPr>
              <a:t>Personas</a:t>
            </a:r>
            <a:endParaRPr lang="fr-FR" sz="4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37CF76-1283-79C7-5C34-45EA3328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58" y="2163789"/>
            <a:ext cx="11927883" cy="406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85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5CDCD7-7602-A2C5-CC76-3CBAD0F8C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C10BD03-430A-20DD-38E8-CA0B1AD9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FBFAB0-FDEC-87C7-9A5C-845869FDF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39E375-5475-EDDF-E883-11507869E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AAE714-8D39-A388-7207-34A1C0752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99B55B-BC39-3C81-9C7E-BA1193291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01C47B3-E69A-B938-1437-AA0241E20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Artefacts de cadrage (3/7) - Customer Journey</a:t>
            </a:r>
            <a:endParaRPr lang="fr-FR" err="1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C39F16EE-B162-01E7-306F-3BDFB937A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37371" cy="21741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000"/>
              <a:t>Elaborer un parcours utilisateur en analysant à un instant </a:t>
            </a:r>
            <a:r>
              <a:rPr lang="fr-FR" sz="2000" i="1"/>
              <a:t>T</a:t>
            </a:r>
            <a:r>
              <a:rPr lang="fr-FR" sz="2000"/>
              <a:t> 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/>
              <a:t>L'action effectuée : </a:t>
            </a:r>
            <a:r>
              <a:rPr lang="fr-FR" sz="1800" i="1"/>
              <a:t>Créer son compte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/>
              <a:t>La pensée : </a:t>
            </a:r>
            <a:r>
              <a:rPr lang="fr-FR" sz="1800" i="1"/>
              <a:t>“Ils ne me demandent pas trop de données, c’est déjà bien.”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/>
              <a:t>L'émotion ressentie : </a:t>
            </a:r>
            <a:r>
              <a:rPr lang="fr-FR" sz="1800" i="1"/>
              <a:t>vigilance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1800"/>
              <a:t>expérience se transformant en friction ou opportunité : </a:t>
            </a:r>
            <a:r>
              <a:rPr lang="fr-FR" sz="1800" i="1"/>
              <a:t>Rassurer sur les données transmises dès l’inscription</a:t>
            </a:r>
            <a:endParaRPr lang="fr-FR" sz="180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7B19C91A-89A2-B88A-A207-8754C12FE7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988558"/>
              </p:ext>
            </p:extLst>
          </p:nvPr>
        </p:nvGraphicFramePr>
        <p:xfrm>
          <a:off x="841828" y="3737428"/>
          <a:ext cx="11198675" cy="30099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39735">
                  <a:extLst>
                    <a:ext uri="{9D8B030D-6E8A-4147-A177-3AD203B41FA5}">
                      <a16:colId xmlns:a16="http://schemas.microsoft.com/office/drawing/2014/main" val="3912007130"/>
                    </a:ext>
                  </a:extLst>
                </a:gridCol>
                <a:gridCol w="2239735">
                  <a:extLst>
                    <a:ext uri="{9D8B030D-6E8A-4147-A177-3AD203B41FA5}">
                      <a16:colId xmlns:a16="http://schemas.microsoft.com/office/drawing/2014/main" val="2074325463"/>
                    </a:ext>
                  </a:extLst>
                </a:gridCol>
                <a:gridCol w="2239735">
                  <a:extLst>
                    <a:ext uri="{9D8B030D-6E8A-4147-A177-3AD203B41FA5}">
                      <a16:colId xmlns:a16="http://schemas.microsoft.com/office/drawing/2014/main" val="306881447"/>
                    </a:ext>
                  </a:extLst>
                </a:gridCol>
                <a:gridCol w="2239735">
                  <a:extLst>
                    <a:ext uri="{9D8B030D-6E8A-4147-A177-3AD203B41FA5}">
                      <a16:colId xmlns:a16="http://schemas.microsoft.com/office/drawing/2014/main" val="429812076"/>
                    </a:ext>
                  </a:extLst>
                </a:gridCol>
                <a:gridCol w="2239735">
                  <a:extLst>
                    <a:ext uri="{9D8B030D-6E8A-4147-A177-3AD203B41FA5}">
                      <a16:colId xmlns:a16="http://schemas.microsoft.com/office/drawing/2014/main" val="4188485546"/>
                    </a:ext>
                  </a:extLst>
                </a:gridCol>
              </a:tblGrid>
              <a:tr h="218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solidFill>
                            <a:srgbClr val="FFFFFF"/>
                          </a:solidFill>
                          <a:effectLst/>
                        </a:rPr>
                        <a:t>Étape</a:t>
                      </a:r>
                      <a:endParaRPr lang="fr-FR" sz="12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solidFill>
                            <a:srgbClr val="FFFFFF"/>
                          </a:solidFill>
                          <a:effectLst/>
                        </a:rPr>
                        <a:t>Action</a:t>
                      </a:r>
                      <a:endParaRPr lang="fr-FR" sz="12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solidFill>
                            <a:srgbClr val="FFFFFF"/>
                          </a:solidFill>
                          <a:effectLst/>
                        </a:rPr>
                        <a:t>Pensée</a:t>
                      </a:r>
                      <a:endParaRPr lang="fr-FR" sz="12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solidFill>
                            <a:srgbClr val="FFFFFF"/>
                          </a:solidFill>
                          <a:effectLst/>
                        </a:rPr>
                        <a:t>Émotion</a:t>
                      </a:r>
                      <a:endParaRPr lang="fr-FR" sz="12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solidFill>
                            <a:srgbClr val="FFFFFF"/>
                          </a:solidFill>
                          <a:effectLst/>
                        </a:rPr>
                        <a:t>Friction / opportunité</a:t>
                      </a:r>
                      <a:endParaRPr lang="fr-FR" sz="12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B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148268"/>
                  </a:ext>
                </a:extLst>
              </a:tr>
              <a:tr h="638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Découverte</a:t>
                      </a:r>
                      <a:endParaRPr lang="fr-FR" sz="12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Voit une vidéo courte d’une étudiante qui transforme son cours en quiz.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“Encore un outil IA ? Je teste si ça me fait gagner du temps.”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Curieuse mais méfiante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Trop technique au premier contact. Montrer une démo courte et un exemple réel de quiz.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503659"/>
                  </a:ext>
                </a:extLst>
              </a:tr>
              <a:tr h="436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Inscription</a:t>
                      </a:r>
                      <a:endParaRPr lang="fr-FR" sz="12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Crée son compte avec son email universitaire.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“Ils ne me demandent pas trop de données, c’est déjà bien.”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Vigilante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Rassurer sur les données dès l’inscription.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15853"/>
                  </a:ext>
                </a:extLst>
              </a:tr>
              <a:tr h="638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1re utilisation</a:t>
                      </a:r>
                      <a:endParaRPr lang="fr-FR" sz="12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Colle un cours ou envoie un PDF, puis lance 10 QCM.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“J’espère que ça ne va pas planter ni sortir des questions hors sujet.”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Anxieuse puis soulagée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Afficher un message clair pendant la génération et signaler si le PDF est trop lourd.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427961"/>
                  </a:ext>
                </a:extLst>
              </a:tr>
              <a:tr h="436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Usage régulier</a:t>
                      </a:r>
                      <a:endParaRPr lang="fr-FR" sz="12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Refait des quiz sur plusieurs chapitres avant les partiels.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“Je vois mieux mes points faibles, je révise moins au hasard.”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Confiante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L’historique doit rester lisible et utile, pas juste une liste de dates.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298123"/>
                  </a:ext>
                </a:extLst>
              </a:tr>
              <a:tr h="436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Recommandation</a:t>
                      </a:r>
                      <a:endParaRPr lang="fr-FR" sz="1200"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Partage l’outil à ses amies de promo.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“Si ça marche pour moi, ça peut aider le groupe.”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Enthousiaste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Prévoir plus tard un partage de quiz ou de session de révision.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017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5365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BC09A-652A-6FBD-85A2-F5DC41CBA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D2402F6-3F80-760D-B830-26E3574061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945FA0-F886-D875-7D03-AB6139355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8E76DB-6ABB-80C8-01FE-2F81D0FF7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F7101F-EBE5-9568-B6AE-0C1521622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56C470-E6B8-D628-93B8-DFE1B51D5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Artefacts de cadrage (4/7) - Story </a:t>
            </a:r>
            <a:r>
              <a:rPr lang="fr-FR" sz="4000" err="1">
                <a:solidFill>
                  <a:srgbClr val="FFFFFF"/>
                </a:solidFill>
              </a:rPr>
              <a:t>Map</a:t>
            </a:r>
            <a:endParaRPr lang="fr-FR" err="1"/>
          </a:p>
        </p:txBody>
      </p:sp>
      <p:sp>
        <p:nvSpPr>
          <p:cNvPr id="20" name="Espace réservé du contenu 19">
            <a:extLst>
              <a:ext uri="{FF2B5EF4-FFF2-40B4-BE49-F238E27FC236}">
                <a16:creationId xmlns:a16="http://schemas.microsoft.com/office/drawing/2014/main" id="{2D2A23D3-C486-EDB0-5006-2CDDD13AD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29" y="1825625"/>
            <a:ext cx="11241313" cy="7227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fr-FR" sz="2400"/>
              <a:t>Vue d'ensemble du produit présentant le flux utilisateur et les fonctionnalités correspondantes</a:t>
            </a:r>
            <a:endParaRPr lang="fr-FR"/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4E440A02-2D88-8570-57DA-45BC2EB8F1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1791391"/>
              </p:ext>
            </p:extLst>
          </p:nvPr>
        </p:nvGraphicFramePr>
        <p:xfrm>
          <a:off x="166914" y="2713323"/>
          <a:ext cx="11910595" cy="398974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93793">
                  <a:extLst>
                    <a:ext uri="{9D8B030D-6E8A-4147-A177-3AD203B41FA5}">
                      <a16:colId xmlns:a16="http://schemas.microsoft.com/office/drawing/2014/main" val="2016288700"/>
                    </a:ext>
                  </a:extLst>
                </a:gridCol>
                <a:gridCol w="1520501">
                  <a:extLst>
                    <a:ext uri="{9D8B030D-6E8A-4147-A177-3AD203B41FA5}">
                      <a16:colId xmlns:a16="http://schemas.microsoft.com/office/drawing/2014/main" val="2880257461"/>
                    </a:ext>
                  </a:extLst>
                </a:gridCol>
                <a:gridCol w="2407461">
                  <a:extLst>
                    <a:ext uri="{9D8B030D-6E8A-4147-A177-3AD203B41FA5}">
                      <a16:colId xmlns:a16="http://schemas.microsoft.com/office/drawing/2014/main" val="1625575145"/>
                    </a:ext>
                  </a:extLst>
                </a:gridCol>
                <a:gridCol w="2407461">
                  <a:extLst>
                    <a:ext uri="{9D8B030D-6E8A-4147-A177-3AD203B41FA5}">
                      <a16:colId xmlns:a16="http://schemas.microsoft.com/office/drawing/2014/main" val="2333380852"/>
                    </a:ext>
                  </a:extLst>
                </a:gridCol>
                <a:gridCol w="823605">
                  <a:extLst>
                    <a:ext uri="{9D8B030D-6E8A-4147-A177-3AD203B41FA5}">
                      <a16:colId xmlns:a16="http://schemas.microsoft.com/office/drawing/2014/main" val="2227495234"/>
                    </a:ext>
                  </a:extLst>
                </a:gridCol>
                <a:gridCol w="823605">
                  <a:extLst>
                    <a:ext uri="{9D8B030D-6E8A-4147-A177-3AD203B41FA5}">
                      <a16:colId xmlns:a16="http://schemas.microsoft.com/office/drawing/2014/main" val="1122664771"/>
                    </a:ext>
                  </a:extLst>
                </a:gridCol>
                <a:gridCol w="2534169">
                  <a:extLst>
                    <a:ext uri="{9D8B030D-6E8A-4147-A177-3AD203B41FA5}">
                      <a16:colId xmlns:a16="http://schemas.microsoft.com/office/drawing/2014/main" val="4036786266"/>
                    </a:ext>
                  </a:extLst>
                </a:gridCol>
              </a:tblGrid>
              <a:tr h="301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Activité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Étape utilisateur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Stories étudiant existantes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Stories Mme Lefèvre ajoutées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Release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Priorité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Remarque humaine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412882"/>
                  </a:ext>
                </a:extLst>
              </a:tr>
              <a:tr h="602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S’inscrire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Créer un compte et se connecter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F1 - inscription, validation email, connexion, reset, profil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Créer/ouvrir un accès enseignant simple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R1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MUST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Ne pas refaire l’</a:t>
                      </a:r>
                      <a:r>
                        <a:rPr lang="fr-FR" sz="1400" err="1">
                          <a:effectLst/>
                        </a:rPr>
                        <a:t>auth</a:t>
                      </a:r>
                      <a:r>
                        <a:rPr lang="fr-FR" sz="1400">
                          <a:effectLst/>
                        </a:rPr>
                        <a:t> : on réutilise ce qui marche déjà.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6215517"/>
                  </a:ext>
                </a:extLst>
              </a:tr>
              <a:tr h="602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Fournir un cours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Uploader un PDF ou coller un texte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F2 - PDF &lt;= 5 Mo ou texte &gt;= 200 caractères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Préparer un quiz depuis un cours de Communication BTS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R1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MUST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Le même flux sert aux étudiants et à Mme Lefèvre.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015967"/>
                  </a:ext>
                </a:extLst>
              </a:tr>
              <a:tr h="602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Générer le quiz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Obtenir 10 QCM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F3 - génération automatique par LLM local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Prévisualiser rapidement les questions avant usage en classe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R2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SHOULD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Utile pour l’enseignante, mais pas indispensable à la démo R1.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471167"/>
                  </a:ext>
                </a:extLst>
              </a:tr>
              <a:tr h="602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Répondre et corriger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Soumettre les réponses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F4 - correction automatique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Voir les réponses de ses 28 étudiants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R1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MUST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C’est le vrai besoin J1 : elle veut voir qui décroche.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669888"/>
                  </a:ext>
                </a:extLst>
              </a:tr>
              <a:tr h="602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Suivre la progression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Voir score et historique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F5/F6 - score détaillé + historique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Vue classe : score moyen, scores faibles, lacunes visibles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R1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MUST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On reste minimal : lisible, pas un gros module prof.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344383"/>
                  </a:ext>
                </a:extLst>
              </a:tr>
              <a:tr h="602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Accompagner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Recevoir un conseil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Révision des erreurs déjà fournie en démo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Envoyer un conseil personnalisé aux étudiants en difficulté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R2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MUST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>
                          <a:effectLst/>
                        </a:rPr>
                        <a:t>Prometteur, mais trop risqué avant stabilisation.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739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9962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E6A93B-DBD1-36CE-18E0-8B8AD75BB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7C0F5C1-D491-DA0A-01FC-9BB486560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E781E5-D5F4-9DC5-4EA9-0AB478352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BD136D-E94D-67FD-2630-247E87CC6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07261A-D836-89D0-AD2F-317748A89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2B9943-7180-9AF7-CDFD-AA50D3F27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065531-1715-2C05-BCEA-EBAE58875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Artefacts de cadrage (5/7) - Release Planning</a:t>
            </a:r>
            <a:endParaRPr lang="fr-FR" err="1"/>
          </a:p>
        </p:txBody>
      </p:sp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EF8A0D1-C462-DBD2-B3A2-9D41C4AE8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14" y="3220309"/>
            <a:ext cx="11908972" cy="1222923"/>
          </a:xfrm>
          <a:prstGeom prst="rect">
            <a:avLst/>
          </a:prstGeom>
        </p:spPr>
      </p:pic>
      <p:sp>
        <p:nvSpPr>
          <p:cNvPr id="6" name="Espace réservé du contenu 19">
            <a:extLst>
              <a:ext uri="{FF2B5EF4-FFF2-40B4-BE49-F238E27FC236}">
                <a16:creationId xmlns:a16="http://schemas.microsoft.com/office/drawing/2014/main" id="{A73A3140-312F-D291-64C8-DFB909477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29" y="1825625"/>
            <a:ext cx="11241313" cy="7227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fr-FR" sz="2400"/>
              <a:t>Calendrier des livrables de release avec le périmètre inclus/exclus et une note de décision </a:t>
            </a:r>
          </a:p>
        </p:txBody>
      </p:sp>
    </p:spTree>
    <p:extLst>
      <p:ext uri="{BB962C8B-B14F-4D97-AF65-F5344CB8AC3E}">
        <p14:creationId xmlns:p14="http://schemas.microsoft.com/office/powerpoint/2010/main" val="467786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0E2101-52A9-F78D-5A7F-BEAE9F09F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2265A4-FCAA-D972-97E4-5D256FC0B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918A46-6B0A-0D8B-A087-E5F7119F6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710CEA-6C7E-927D-507C-72ADA25C1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1A331-1349-388F-7931-0166E2E82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0ED893-1FC3-6844-4F73-437EB5CE0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5C03FAC-2EC6-2D2B-81DB-77F8F4579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Artefacts de cadrage (6/7) - Product </a:t>
            </a:r>
            <a:r>
              <a:rPr lang="fr-FR" sz="4000" err="1">
                <a:solidFill>
                  <a:srgbClr val="FFFFFF"/>
                </a:solidFill>
              </a:rPr>
              <a:t>Backlog</a:t>
            </a:r>
            <a:endParaRPr lang="fr-FR" err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3411D8-9943-3E36-F805-9F44BD4A6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ZoneTexte 3">
            <a:extLst>
              <a:ext uri="{FF2B5EF4-FFF2-40B4-BE49-F238E27FC236}">
                <a16:creationId xmlns:a16="http://schemas.microsoft.com/office/drawing/2014/main" id="{A252B4FB-0338-77AA-04BA-10833D54EA90}"/>
              </a:ext>
            </a:extLst>
          </p:cNvPr>
          <p:cNvSpPr txBox="1"/>
          <p:nvPr/>
        </p:nvSpPr>
        <p:spPr>
          <a:xfrm>
            <a:off x="457742" y="2648315"/>
            <a:ext cx="4230914" cy="135081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2400" b="1"/>
              <a:t>Objectif</a:t>
            </a:r>
            <a:endParaRPr lang="en-US" sz="2400" b="1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 sz="1300"/>
              <a:t>Organiser les besoins utilisateurs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 sz="1300"/>
              <a:t>Visualiser le parcours utilisateur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 sz="1300"/>
              <a:t>Prioriser les fonctionnalités </a:t>
            </a:r>
            <a:endParaRPr lang="fr-FR"/>
          </a:p>
        </p:txBody>
      </p:sp>
      <p:sp>
        <p:nvSpPr>
          <p:cNvPr id="7" name="ZoneTexte 5">
            <a:extLst>
              <a:ext uri="{FF2B5EF4-FFF2-40B4-BE49-F238E27FC236}">
                <a16:creationId xmlns:a16="http://schemas.microsoft.com/office/drawing/2014/main" id="{3238B412-17AE-29F2-899B-BD02C1F06C5F}"/>
              </a:ext>
            </a:extLst>
          </p:cNvPr>
          <p:cNvSpPr txBox="1"/>
          <p:nvPr/>
        </p:nvSpPr>
        <p:spPr>
          <a:xfrm>
            <a:off x="4586189" y="1827824"/>
            <a:ext cx="4049485" cy="272492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90000"/>
              </a:lnSpc>
              <a:spcBef>
                <a:spcPts val="1000"/>
              </a:spcBef>
            </a:pPr>
            <a:endParaRPr lang="fr-FR" sz="2000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fr-FR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2400" b="1"/>
              <a:t>Contenu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 sz="1300"/>
              <a:t>Activités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 sz="1300"/>
              <a:t>User Stories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 sz="1300"/>
              <a:t>Priorités (</a:t>
            </a:r>
            <a:r>
              <a:rPr lang="fr-FR" sz="1300" b="1">
                <a:solidFill>
                  <a:srgbClr val="FF0000"/>
                </a:solidFill>
              </a:rPr>
              <a:t>Must </a:t>
            </a:r>
            <a:r>
              <a:rPr lang="fr-FR" sz="1300"/>
              <a:t>/ </a:t>
            </a:r>
            <a:r>
              <a:rPr lang="fr-FR" sz="1300" err="1">
                <a:solidFill>
                  <a:srgbClr val="FFC000"/>
                </a:solidFill>
              </a:rPr>
              <a:t>Should</a:t>
            </a:r>
            <a:r>
              <a:rPr lang="fr-FR" sz="1300">
                <a:solidFill>
                  <a:srgbClr val="FFC000"/>
                </a:solidFill>
              </a:rPr>
              <a:t> </a:t>
            </a:r>
            <a:r>
              <a:rPr lang="fr-FR" sz="1300"/>
              <a:t>/ </a:t>
            </a:r>
            <a:r>
              <a:rPr lang="fr-FR" sz="1300" err="1">
                <a:solidFill>
                  <a:srgbClr val="92D050"/>
                </a:solidFill>
              </a:rPr>
              <a:t>Could</a:t>
            </a:r>
            <a:r>
              <a:rPr lang="fr-FR" sz="1300"/>
              <a:t>)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 sz="1300"/>
              <a:t>Releases </a:t>
            </a:r>
          </a:p>
          <a:p>
            <a:endParaRPr lang="fr-FR"/>
          </a:p>
        </p:txBody>
      </p:sp>
      <p:sp>
        <p:nvSpPr>
          <p:cNvPr id="9" name="ZoneTexte 6">
            <a:extLst>
              <a:ext uri="{FF2B5EF4-FFF2-40B4-BE49-F238E27FC236}">
                <a16:creationId xmlns:a16="http://schemas.microsoft.com/office/drawing/2014/main" id="{82CAA494-F388-D850-12AC-C84D61A141B3}"/>
              </a:ext>
            </a:extLst>
          </p:cNvPr>
          <p:cNvSpPr txBox="1"/>
          <p:nvPr/>
        </p:nvSpPr>
        <p:spPr>
          <a:xfrm>
            <a:off x="8333474" y="2288599"/>
            <a:ext cx="2743200" cy="282846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fr-FR" sz="140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fr-FR" sz="2400" b="1"/>
              <a:t>Utilité</a:t>
            </a:r>
            <a:endParaRPr lang="en-US" sz="2400" b="1"/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 sz="1400"/>
              <a:t>Vision globale du projet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 sz="1400"/>
              <a:t>Planification des versions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 sz="1400"/>
              <a:t>Aide à la gestion du projet 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fr-FR" sz="1400"/>
              <a:t>Facilite le travail en équipe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fr-FR" sz="2800"/>
          </a:p>
          <a:p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242B080-DD46-FFFF-0330-B7C1084D5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72" y="4826679"/>
            <a:ext cx="10134600" cy="1457325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366992AF-7A95-A1BB-3C6D-41AEB560D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" y="4632779"/>
            <a:ext cx="101473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798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607D97-E77D-8AA9-6259-3BD9D28D3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2326ECA-2591-55A3-1253-BD89AAF54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D7987-0BD5-E13D-2DC0-3272EC76F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0689F1-65C4-A5F6-E65D-C3AC4CBA7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CD23D5-64A7-384F-2A05-6910B21F1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B99EE5-4B51-374F-BCBB-E1337BD1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08744E-9533-012D-B1F1-6F34B5FB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Artefacts de cadrage (7/7) - Sprint </a:t>
            </a:r>
            <a:r>
              <a:rPr lang="fr-FR" sz="4000" err="1">
                <a:solidFill>
                  <a:srgbClr val="FFFFFF"/>
                </a:solidFill>
              </a:rPr>
              <a:t>Backlog</a:t>
            </a:r>
            <a:endParaRPr lang="fr-FR" err="1"/>
          </a:p>
        </p:txBody>
      </p:sp>
      <p:sp>
        <p:nvSpPr>
          <p:cNvPr id="3" name="Espace réservé du contenu 19">
            <a:extLst>
              <a:ext uri="{FF2B5EF4-FFF2-40B4-BE49-F238E27FC236}">
                <a16:creationId xmlns:a16="http://schemas.microsoft.com/office/drawing/2014/main" id="{2D2A23D3-C486-EDB0-5006-2CDDD13AD874}"/>
              </a:ext>
            </a:extLst>
          </p:cNvPr>
          <p:cNvSpPr>
            <a:spLocks noGrp="1"/>
          </p:cNvSpPr>
          <p:nvPr/>
        </p:nvSpPr>
        <p:spPr>
          <a:xfrm>
            <a:off x="156029" y="1825625"/>
            <a:ext cx="11241313" cy="722767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/>
              <a:t>Sous-ensemble du Product </a:t>
            </a:r>
            <a:r>
              <a:rPr lang="fr-FR" sz="2400" err="1"/>
              <a:t>Backlog</a:t>
            </a:r>
            <a:r>
              <a:rPr lang="fr-FR" sz="2400"/>
              <a:t> pour la </a:t>
            </a:r>
            <a:r>
              <a:rPr lang="fr-FR" sz="2400" err="1"/>
              <a:t>livr</a:t>
            </a:r>
            <a:r>
              <a:rPr lang="fr-FR" sz="2400"/>
              <a:t>aison en Sprint </a:t>
            </a:r>
            <a:r>
              <a:rPr lang="fr-FR" sz="2400" i="1"/>
              <a:t>n</a:t>
            </a:r>
            <a:r>
              <a:rPr lang="fr-FR" sz="2400"/>
              <a:t> avec pour chaque story ses critères d'acceptation</a:t>
            </a:r>
            <a:endParaRPr lang="fr-FR"/>
          </a:p>
        </p:txBody>
      </p:sp>
      <p:pic>
        <p:nvPicPr>
          <p:cNvPr id="4" name="Image 3" descr="Une image contenant texte, nombr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3199C09D-454B-09E8-3F42-06E0BEAF9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57" y="2908545"/>
            <a:ext cx="11908972" cy="286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767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BE76F4-32AC-C650-C418-C4DA3135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F78649-FBBE-18AA-312B-732B68BBF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EDF016-4BDA-A062-761F-985246346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D8F9A4-F858-BD1B-C7B3-A3C618DA9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129465-6F6D-60D2-8FE3-7948828D8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1A0ABC-3BBD-391A-CACB-C48903F79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5AD07D9-F479-B317-9D50-0AF87417F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0" y="280024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5 perturbations, quelles conséquences ?</a:t>
            </a:r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660029A-E3E1-221B-AF7C-201ACD7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6" y="1724025"/>
            <a:ext cx="10929256" cy="48738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,monospace" panose="020B0604020202020204" pitchFamily="34" charset="0"/>
              <a:buChar char="o"/>
            </a:pPr>
            <a:r>
              <a:rPr lang="fr-FR"/>
              <a:t>Chaque perturbation présentait une situation venant bousculer le planning</a:t>
            </a:r>
            <a:endParaRPr lang="en-US"/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fr-FR"/>
              <a:t>J1 : Nouveau Persona : Mme Lefèvre, enseignante, devenue une 2e cible prioritaire</a:t>
            </a:r>
            <a:endParaRPr lang="en-US"/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fr-FR"/>
              <a:t>Mise à jour des artefacts : prise en compte de nouveaux besoins, analyse Customer Journey, User Stories, priorisation </a:t>
            </a:r>
            <a:r>
              <a:rPr lang="fr-FR" err="1"/>
              <a:t>MoSCoW</a:t>
            </a:r>
            <a:endParaRPr lang="en-US" err="1"/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fr-FR"/>
              <a:t>J2 : Décision technique à prendre dû à une latence inacceptable</a:t>
            </a:r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fr-FR"/>
              <a:t>Rédaction d'un benchmark, d'un ADR et mise à jour du </a:t>
            </a:r>
            <a:r>
              <a:rPr lang="fr-FR" err="1"/>
              <a:t>backlog</a:t>
            </a:r>
            <a:endParaRPr lang="fr-FR"/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fr-FR"/>
              <a:t>J3 : exigence de sécurité à caractère urgent dû à un problème de prompt injection</a:t>
            </a:r>
            <a:endParaRPr lang="en-US"/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fr-FR"/>
              <a:t>Préparation de jeu de tests (prompts variés)</a:t>
            </a:r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fr-FR"/>
              <a:t>rédaction d'une note de sécurité, d'audit, de veille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fr-FR"/>
              <a:t>J3-bis : exigence réglementaire RGPD</a:t>
            </a:r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fr-FR"/>
              <a:t>Mise à jour de l'application</a:t>
            </a:r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fr-FR"/>
              <a:t>Rédaction d'une politique de rétention, et d'un email de réponse à un utilisateur</a:t>
            </a:r>
          </a:p>
          <a:p>
            <a:pPr lvl="2">
              <a:buFont typeface="Wingdings,sans-serif" panose="020B0604020202020204" pitchFamily="34" charset="0"/>
              <a:buChar char="§"/>
            </a:pPr>
            <a:r>
              <a:rPr lang="fr-FR"/>
              <a:t>J4: buzz national, passage à grande échelle</a:t>
            </a:r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fr-FR"/>
              <a:t>Mise à jour des artefacts, analyse de risques, pilotage du nouveau sprint</a:t>
            </a:r>
          </a:p>
          <a:p>
            <a:pPr lvl="3">
              <a:buFont typeface="Wingdings,sans-serif" panose="020B0604020202020204" pitchFamily="34" charset="0"/>
              <a:buChar char="§"/>
            </a:pPr>
            <a:r>
              <a:rPr lang="fr-FR"/>
              <a:t>PoC sur l'axe de langue</a:t>
            </a:r>
          </a:p>
          <a:p>
            <a:pPr lvl="2">
              <a:buFont typeface="Wingdings,sans-serif" panose="020B0604020202020204" pitchFamily="34" charset="0"/>
              <a:buChar char="§"/>
            </a:pPr>
            <a:endParaRPr lang="fr-FR"/>
          </a:p>
          <a:p>
            <a:pPr lvl="3">
              <a:buFont typeface="Wingdings,sans-serif" panose="020B0604020202020204" pitchFamily="34" charset="0"/>
              <a:buChar char="§"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787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6ECDF-7D73-74EA-69A8-ABB4EB944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6874750-A59A-D8DA-8DF0-B44248CDA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0812E5-38A8-600E-DE03-57F59AA31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3D2BE7-65D4-91A8-C911-A1CC015C3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C22F7B-35DE-BA8C-B04F-8401EF57D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DB9DFD-9C88-D2BB-AFB1-47E268F3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4F7693-018B-E9CA-AE51-B6B11CEE4703}"/>
              </a:ext>
            </a:extLst>
          </p:cNvPr>
          <p:cNvSpPr txBox="1"/>
          <p:nvPr/>
        </p:nvSpPr>
        <p:spPr>
          <a:xfrm>
            <a:off x="795178" y="2900178"/>
            <a:ext cx="9558408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ea typeface="+mn-lt"/>
                <a:cs typeface="+mn-lt"/>
              </a:rPr>
              <a:t>Problème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identifié</a:t>
            </a:r>
            <a:r>
              <a:rPr lang="en-US" sz="2400">
                <a:ea typeface="+mn-lt"/>
                <a:cs typeface="+mn-lt"/>
              </a:rPr>
              <a:t> : </a:t>
            </a:r>
            <a:r>
              <a:rPr lang="en-US" sz="2400" err="1">
                <a:ea typeface="+mn-lt"/>
                <a:cs typeface="+mn-lt"/>
              </a:rPr>
              <a:t>latence</a:t>
            </a:r>
            <a:r>
              <a:rPr lang="en-US" sz="2400">
                <a:ea typeface="+mn-lt"/>
                <a:cs typeface="+mn-lt"/>
              </a:rPr>
              <a:t> trop </a:t>
            </a:r>
            <a:r>
              <a:rPr lang="en-US" sz="2400" err="1">
                <a:ea typeface="+mn-lt"/>
                <a:cs typeface="+mn-lt"/>
              </a:rPr>
              <a:t>élevée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lorsqu’un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élève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veut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générer</a:t>
            </a:r>
            <a:r>
              <a:rPr lang="en-US" sz="2400">
                <a:ea typeface="+mn-lt"/>
                <a:cs typeface="+mn-lt"/>
              </a:rPr>
              <a:t> un quiz (45 </a:t>
            </a:r>
            <a:r>
              <a:rPr lang="en-US" sz="2400" err="1">
                <a:ea typeface="+mn-lt"/>
                <a:cs typeface="+mn-lt"/>
              </a:rPr>
              <a:t>secondes</a:t>
            </a:r>
            <a:r>
              <a:rPr lang="en-US" sz="2400">
                <a:ea typeface="+mn-lt"/>
                <a:cs typeface="+mn-lt"/>
              </a:rPr>
              <a:t>) avec le </a:t>
            </a:r>
            <a:r>
              <a:rPr lang="en-US" sz="2400" err="1">
                <a:ea typeface="+mn-lt"/>
                <a:cs typeface="+mn-lt"/>
              </a:rPr>
              <a:t>modèle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actuel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/>
          </a:p>
          <a:p>
            <a:endParaRPr lang="en-US" sz="240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Impact : </a:t>
            </a:r>
            <a:r>
              <a:rPr lang="en-US" sz="2400" err="1">
                <a:ea typeface="+mn-lt"/>
                <a:cs typeface="+mn-lt"/>
              </a:rPr>
              <a:t>mauvaise</a:t>
            </a:r>
            <a:r>
              <a:rPr lang="en-US" sz="2400">
                <a:ea typeface="+mn-lt"/>
                <a:cs typeface="+mn-lt"/>
              </a:rPr>
              <a:t> UX, </a:t>
            </a:r>
            <a:r>
              <a:rPr lang="en-US" sz="2400" err="1">
                <a:ea typeface="+mn-lt"/>
                <a:cs typeface="+mn-lt"/>
              </a:rPr>
              <a:t>risque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perte</a:t>
            </a:r>
            <a:r>
              <a:rPr lang="en-US" sz="2400">
                <a:ea typeface="+mn-lt"/>
                <a:cs typeface="+mn-lt"/>
              </a:rPr>
              <a:t> de clients.</a:t>
            </a:r>
          </a:p>
          <a:p>
            <a:endParaRPr lang="en-US" sz="2400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Objectif : </a:t>
            </a:r>
            <a:r>
              <a:rPr lang="en-US" sz="2400" err="1">
                <a:ea typeface="+mn-lt"/>
                <a:cs typeface="+mn-lt"/>
              </a:rPr>
              <a:t>générer</a:t>
            </a:r>
            <a:r>
              <a:rPr lang="en-US" sz="2400">
                <a:ea typeface="+mn-lt"/>
                <a:cs typeface="+mn-lt"/>
              </a:rPr>
              <a:t> des quiz plus </a:t>
            </a:r>
            <a:r>
              <a:rPr lang="en-US" sz="2400" err="1">
                <a:ea typeface="+mn-lt"/>
                <a:cs typeface="+mn-lt"/>
              </a:rPr>
              <a:t>rapidement</a:t>
            </a:r>
            <a:r>
              <a:rPr lang="en-US" sz="2400">
                <a:ea typeface="+mn-lt"/>
                <a:cs typeface="+mn-lt"/>
              </a:rPr>
              <a:t> après </a:t>
            </a:r>
            <a:r>
              <a:rPr lang="en-US" sz="2400" err="1">
                <a:ea typeface="+mn-lt"/>
                <a:cs typeface="+mn-lt"/>
              </a:rPr>
              <a:t>l’upload</a:t>
            </a:r>
            <a:r>
              <a:rPr lang="en-US" sz="2400">
                <a:ea typeface="+mn-lt"/>
                <a:cs typeface="+mn-lt"/>
              </a:rPr>
              <a:t> d’un </a:t>
            </a:r>
            <a:r>
              <a:rPr lang="en-US" sz="2400" err="1">
                <a:ea typeface="+mn-lt"/>
                <a:cs typeface="+mn-lt"/>
              </a:rPr>
              <a:t>cours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/>
          </a:p>
          <a:p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565354-9E4D-6575-25D5-E213EC56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0" y="280024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ADR - Contexte</a:t>
            </a:r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08E7059-4291-9D8C-39CC-7E13BB068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6" y="1724025"/>
            <a:ext cx="10929256" cy="48738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,monospace" panose="020B0604020202020204" pitchFamily="34" charset="0"/>
              <a:buChar char="o"/>
            </a:pPr>
            <a:endParaRPr lang="fr-FR"/>
          </a:p>
          <a:p>
            <a:pPr lvl="2">
              <a:buFont typeface="Wingdings,sans-serif" panose="020B0604020202020204" pitchFamily="34" charset="0"/>
              <a:buChar char="§"/>
            </a:pPr>
            <a:endParaRPr lang="fr-FR"/>
          </a:p>
          <a:p>
            <a:pPr lvl="3">
              <a:buFont typeface="Wingdings,sans-serif" panose="020B0604020202020204" pitchFamily="34" charset="0"/>
              <a:buChar char="§"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6857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71A7B-675A-6B9F-108A-0D754B3E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740CAC-8391-458C-9484-18EA0891A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3B33E8F-95B3-0BBB-B34E-0761612E6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3651E7-8CCE-E6ED-8F2D-4C1F9E0E8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72257D-D349-B67A-5176-6AFEFD604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C4C767-B88C-C15D-FEB0-7F3CB3FEE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8E8EF-13D3-26B1-2C8C-0967C8288242}"/>
              </a:ext>
            </a:extLst>
          </p:cNvPr>
          <p:cNvSpPr txBox="1"/>
          <p:nvPr/>
        </p:nvSpPr>
        <p:spPr>
          <a:xfrm>
            <a:off x="468606" y="2537321"/>
            <a:ext cx="955840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Choix </a:t>
            </a:r>
            <a:r>
              <a:rPr lang="en-US" sz="2400" err="1">
                <a:ea typeface="+mn-lt"/>
                <a:cs typeface="+mn-lt"/>
              </a:rPr>
              <a:t>basés</a:t>
            </a:r>
            <a:r>
              <a:rPr lang="en-US" sz="2400">
                <a:ea typeface="+mn-lt"/>
                <a:cs typeface="+mn-lt"/>
              </a:rPr>
              <a:t> sur :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Qualité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génération</a:t>
            </a:r>
            <a:endParaRPr lang="en-US" sz="2400" err="1"/>
          </a:p>
          <a:p>
            <a:pPr marL="285750" indent="-28575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Temps de </a:t>
            </a:r>
            <a:r>
              <a:rPr lang="en-US" sz="2400" err="1">
                <a:ea typeface="+mn-lt"/>
                <a:cs typeface="+mn-lt"/>
              </a:rPr>
              <a:t>réponse</a:t>
            </a:r>
            <a:r>
              <a:rPr lang="en-US" sz="2400">
                <a:ea typeface="+mn-lt"/>
                <a:cs typeface="+mn-lt"/>
              </a:rPr>
              <a:t> / </a:t>
            </a:r>
            <a:r>
              <a:rPr lang="en-US" sz="2400" err="1">
                <a:ea typeface="+mn-lt"/>
                <a:cs typeface="+mn-lt"/>
              </a:rPr>
              <a:t>latence</a:t>
            </a:r>
            <a:endParaRPr lang="en-US" err="1"/>
          </a:p>
          <a:p>
            <a:pPr marL="285750" indent="-285750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Coût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en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ressources</a:t>
            </a:r>
            <a:endParaRPr lang="en-US" err="1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Robustesse</a:t>
            </a:r>
            <a:r>
              <a:rPr lang="en-US" sz="2400">
                <a:ea typeface="+mn-lt"/>
                <a:cs typeface="+mn-lt"/>
              </a:rPr>
              <a:t> et </a:t>
            </a:r>
            <a:r>
              <a:rPr lang="en-US" sz="2400" err="1">
                <a:ea typeface="+mn-lt"/>
                <a:cs typeface="+mn-lt"/>
              </a:rPr>
              <a:t>faisabilité</a:t>
            </a:r>
            <a:endParaRPr lang="en-US" err="1"/>
          </a:p>
          <a:p>
            <a:endParaRPr lang="en-US" sz="24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6888B7-1E96-972B-0216-D5E5E23A8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0" y="280024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ADR – Critères et Options</a:t>
            </a:r>
            <a:endParaRPr lang="fr-FR" err="1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B85E4AC-5FC0-4E12-7433-7D1F79C8B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6" y="1724025"/>
            <a:ext cx="10929256" cy="48738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,monospace" panose="020B0604020202020204" pitchFamily="34" charset="0"/>
              <a:buChar char="o"/>
            </a:pPr>
            <a:endParaRPr lang="fr-FR"/>
          </a:p>
          <a:p>
            <a:pPr lvl="2">
              <a:buFont typeface="Wingdings,sans-serif" panose="020B0604020202020204" pitchFamily="34" charset="0"/>
              <a:buChar char="§"/>
            </a:pPr>
            <a:endParaRPr lang="fr-FR"/>
          </a:p>
          <a:p>
            <a:pPr lvl="3">
              <a:buFont typeface="Wingdings,sans-serif" panose="020B0604020202020204" pitchFamily="34" charset="0"/>
              <a:buChar char="§"/>
            </a:pPr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34DDEA-4BCA-1C98-D104-6CF57782A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511" y="2254477"/>
            <a:ext cx="6878865" cy="3684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902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3A482-FA97-E839-575A-60FD2E6A5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C499BFD-7421-5237-44CA-ECF998B07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806638-F7F3-7995-9322-23419131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54FF8A-5218-22A6-EF82-6E7660199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62C5D-C84D-F84B-8A3F-0B43BA735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C43ABF-4053-8211-A0A2-E19302C67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86E82F4-5B0B-1C3D-8F86-BA52F6815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0" y="280024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Benchmark</a:t>
            </a:r>
            <a:endParaRPr lang="fr-FR" sz="400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DB5D50A-6C5B-6053-ACB6-A9259E898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6" y="1724025"/>
            <a:ext cx="10929256" cy="48738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,monospace" panose="020B0604020202020204" pitchFamily="34" charset="0"/>
              <a:buChar char="o"/>
            </a:pPr>
            <a:endParaRPr lang="fr-FR"/>
          </a:p>
          <a:p>
            <a:pPr lvl="2">
              <a:buFont typeface="Wingdings,sans-serif" panose="020B0604020202020204" pitchFamily="34" charset="0"/>
              <a:buChar char="§"/>
            </a:pPr>
            <a:endParaRPr lang="fr-FR"/>
          </a:p>
          <a:p>
            <a:pPr lvl="3">
              <a:buFont typeface="Wingdings,sans-serif" panose="020B0604020202020204" pitchFamily="34" charset="0"/>
              <a:buChar char="§"/>
            </a:pPr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423A4-6084-39C5-0BF2-E424F965F304}"/>
              </a:ext>
            </a:extLst>
          </p:cNvPr>
          <p:cNvSpPr txBox="1"/>
          <p:nvPr/>
        </p:nvSpPr>
        <p:spPr>
          <a:xfrm>
            <a:off x="771702" y="2014140"/>
            <a:ext cx="11105617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Objectif de la recherche :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Trouver</a:t>
            </a:r>
            <a:r>
              <a:rPr lang="en-US" sz="2400">
                <a:ea typeface="+mn-lt"/>
                <a:cs typeface="+mn-lt"/>
              </a:rPr>
              <a:t> un </a:t>
            </a:r>
            <a:r>
              <a:rPr lang="en-US" sz="2400" err="1">
                <a:ea typeface="+mn-lt"/>
                <a:cs typeface="+mn-lt"/>
              </a:rPr>
              <a:t>modèle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adapté</a:t>
            </a:r>
            <a:r>
              <a:rPr lang="en-US" sz="2400">
                <a:ea typeface="+mn-lt"/>
                <a:cs typeface="+mn-lt"/>
              </a:rPr>
              <a:t> à la </a:t>
            </a:r>
            <a:r>
              <a:rPr lang="en-US" sz="2400" err="1">
                <a:ea typeface="+mn-lt"/>
                <a:cs typeface="+mn-lt"/>
              </a:rPr>
              <a:t>génération</a:t>
            </a:r>
            <a:r>
              <a:rPr lang="en-US" sz="2400">
                <a:ea typeface="+mn-lt"/>
                <a:cs typeface="+mn-lt"/>
              </a:rPr>
              <a:t> de quiz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Privilégier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une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expérience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utilisateur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fluide</a:t>
            </a:r>
            <a:endParaRPr lang="en-US" sz="2400"/>
          </a:p>
          <a:p>
            <a:endParaRPr lang="en-US" sz="2400">
              <a:ea typeface="+mn-lt"/>
              <a:cs typeface="+mn-lt"/>
            </a:endParaRPr>
          </a:p>
          <a:p>
            <a:r>
              <a:rPr lang="en-US" sz="2400" err="1">
                <a:ea typeface="+mn-lt"/>
                <a:cs typeface="+mn-lt"/>
              </a:rPr>
              <a:t>Critères</a:t>
            </a:r>
            <a:r>
              <a:rPr lang="en-US" sz="240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sélection</a:t>
            </a:r>
            <a:r>
              <a:rPr lang="en-US" sz="2400">
                <a:ea typeface="+mn-lt"/>
                <a:cs typeface="+mn-lt"/>
              </a:rPr>
              <a:t> :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Réactivité</a:t>
            </a:r>
            <a:r>
              <a:rPr lang="en-US" sz="2400">
                <a:ea typeface="+mn-lt"/>
                <a:cs typeface="+mn-lt"/>
              </a:rPr>
              <a:t> : </a:t>
            </a:r>
            <a:r>
              <a:rPr lang="en-US" sz="2400" err="1">
                <a:ea typeface="+mn-lt"/>
                <a:cs typeface="+mn-lt"/>
              </a:rPr>
              <a:t>latence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basse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en</a:t>
            </a:r>
            <a:r>
              <a:rPr lang="en-US" sz="2400">
                <a:ea typeface="+mn-lt"/>
                <a:cs typeface="+mn-lt"/>
              </a:rPr>
              <a:t> p50/p95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Qualité</a:t>
            </a:r>
            <a:r>
              <a:rPr lang="en-US" sz="2400">
                <a:ea typeface="+mn-lt"/>
                <a:cs typeface="+mn-lt"/>
              </a:rPr>
              <a:t> suffisante : formats de questions corrects et </a:t>
            </a:r>
            <a:r>
              <a:rPr lang="en-US" sz="2400" err="1">
                <a:ea typeface="+mn-lt"/>
                <a:cs typeface="+mn-lt"/>
              </a:rPr>
              <a:t>compréhensibles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Ressources</a:t>
            </a:r>
            <a:r>
              <a:rPr lang="en-US" sz="2400">
                <a:ea typeface="+mn-lt"/>
                <a:cs typeface="+mn-lt"/>
              </a:rPr>
              <a:t> : </a:t>
            </a:r>
            <a:r>
              <a:rPr lang="en-US" sz="2400" err="1">
                <a:ea typeface="+mn-lt"/>
                <a:cs typeface="+mn-lt"/>
              </a:rPr>
              <a:t>mémoire</a:t>
            </a:r>
            <a:r>
              <a:rPr lang="en-US" sz="2400">
                <a:ea typeface="+mn-lt"/>
                <a:cs typeface="+mn-lt"/>
              </a:rPr>
              <a:t> et </a:t>
            </a:r>
            <a:r>
              <a:rPr lang="en-US" sz="2400" err="1">
                <a:ea typeface="+mn-lt"/>
                <a:cs typeface="+mn-lt"/>
              </a:rPr>
              <a:t>coût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d’inférence</a:t>
            </a:r>
            <a:endParaRPr lang="en-US" sz="2400"/>
          </a:p>
          <a:p>
            <a:pPr marL="285750" indent="-285750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Stabilité</a:t>
            </a:r>
            <a:r>
              <a:rPr lang="en-US" sz="2400">
                <a:ea typeface="+mn-lt"/>
                <a:cs typeface="+mn-lt"/>
              </a:rPr>
              <a:t> : </a:t>
            </a:r>
            <a:r>
              <a:rPr lang="en-US" sz="2400" err="1">
                <a:ea typeface="+mn-lt"/>
                <a:cs typeface="+mn-lt"/>
              </a:rPr>
              <a:t>robustesse</a:t>
            </a:r>
            <a:r>
              <a:rPr lang="en-US" sz="2400">
                <a:ea typeface="+mn-lt"/>
                <a:cs typeface="+mn-lt"/>
              </a:rPr>
              <a:t> du prompt et validation JSON</a:t>
            </a:r>
            <a:endParaRPr lang="en-US" sz="2400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462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AD227-7455-84ED-02EC-7D7334633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18ECA9-D489-FEB6-2B10-9D1BF4881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0A622D-D250-2E6B-1C0D-57A8D683E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A054B5-4A19-EBCF-9C8B-C58D5A50E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052E66-1DB1-F5D1-A890-F1A33F846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6F9B36-55AE-AE20-8420-63A47D3DB9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5E74395-563D-365F-D92C-4FEFF3316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570" y="280024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Benchmark</a:t>
            </a:r>
            <a:endParaRPr lang="fr-FR" sz="400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72C50A5-79C6-F1E7-6E79-49C22BD7D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6" y="1724025"/>
            <a:ext cx="10929256" cy="48738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,monospace" panose="020B0604020202020204" pitchFamily="34" charset="0"/>
              <a:buChar char="o"/>
            </a:pPr>
            <a:endParaRPr lang="fr-FR"/>
          </a:p>
          <a:p>
            <a:pPr lvl="2">
              <a:buFont typeface="Wingdings,sans-serif" panose="020B0604020202020204" pitchFamily="34" charset="0"/>
              <a:buChar char="§"/>
            </a:pPr>
            <a:endParaRPr lang="fr-FR"/>
          </a:p>
          <a:p>
            <a:pPr lvl="3">
              <a:buFont typeface="Wingdings,sans-serif" panose="020B0604020202020204" pitchFamily="34" charset="0"/>
              <a:buChar char="§"/>
            </a:pPr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28D0F-9701-0AA8-EA4C-5D9AFEFAEEEC}"/>
              </a:ext>
            </a:extLst>
          </p:cNvPr>
          <p:cNvSpPr txBox="1"/>
          <p:nvPr/>
        </p:nvSpPr>
        <p:spPr>
          <a:xfrm>
            <a:off x="372559" y="1593226"/>
            <a:ext cx="11105617" cy="57246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ea typeface="+mn-lt"/>
                <a:cs typeface="+mn-lt"/>
              </a:rPr>
              <a:t>Résultats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principaux</a:t>
            </a:r>
            <a:r>
              <a:rPr lang="en-US" sz="2400">
                <a:ea typeface="+mn-lt"/>
                <a:cs typeface="+mn-lt"/>
              </a:rPr>
              <a:t> :</a:t>
            </a:r>
            <a:endParaRPr lang="en-US" sz="2400"/>
          </a:p>
          <a:p>
            <a:endParaRPr lang="en-US" sz="2400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Llama 3.1 8B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err="1">
                <a:ea typeface="+mn-lt"/>
                <a:cs typeface="+mn-lt"/>
              </a:rPr>
              <a:t>Qualité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perçue</a:t>
            </a:r>
            <a:r>
              <a:rPr lang="en-US" sz="2400">
                <a:ea typeface="+mn-lt"/>
                <a:cs typeface="+mn-lt"/>
              </a:rPr>
              <a:t> la plus </a:t>
            </a:r>
            <a:r>
              <a:rPr lang="en-US" sz="2400" err="1">
                <a:ea typeface="+mn-lt"/>
                <a:cs typeface="+mn-lt"/>
              </a:rPr>
              <a:t>élevée</a:t>
            </a:r>
            <a:endParaRPr lang="en-US" sz="240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400" err="1">
                <a:ea typeface="+mn-lt"/>
                <a:cs typeface="+mn-lt"/>
              </a:rPr>
              <a:t>Latence</a:t>
            </a:r>
            <a:r>
              <a:rPr lang="en-US" sz="2400">
                <a:ea typeface="+mn-lt"/>
                <a:cs typeface="+mn-lt"/>
              </a:rPr>
              <a:t> la plus haute</a:t>
            </a:r>
            <a:endParaRPr lang="en-US" sz="2400"/>
          </a:p>
          <a:p>
            <a:endParaRPr lang="en-US" sz="2400"/>
          </a:p>
          <a:p>
            <a:r>
              <a:rPr lang="en-US" sz="2400" b="1">
                <a:ea typeface="+mn-lt"/>
                <a:cs typeface="+mn-lt"/>
              </a:rPr>
              <a:t>Llama 3.2 3B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 err="1">
                <a:ea typeface="+mn-lt"/>
                <a:cs typeface="+mn-lt"/>
              </a:rPr>
              <a:t>Latence</a:t>
            </a:r>
            <a:r>
              <a:rPr lang="en-US" sz="2400">
                <a:ea typeface="+mn-lt"/>
                <a:cs typeface="+mn-lt"/>
              </a:rPr>
              <a:t> beaucoup plus </a:t>
            </a:r>
            <a:r>
              <a:rPr lang="en-US" sz="2400" err="1">
                <a:ea typeface="+mn-lt"/>
                <a:cs typeface="+mn-lt"/>
              </a:rPr>
              <a:t>basse</a:t>
            </a:r>
            <a:endParaRPr lang="en-US" sz="2400"/>
          </a:p>
          <a:p>
            <a:pPr marL="285750" indent="-285750">
              <a:buFont typeface="Arial,Sans-Serif"/>
              <a:buChar char="•"/>
            </a:pPr>
            <a:r>
              <a:rPr lang="en-US" sz="2400" err="1">
                <a:ea typeface="+mn-lt"/>
                <a:cs typeface="+mn-lt"/>
              </a:rPr>
              <a:t>Qualité</a:t>
            </a:r>
            <a:r>
              <a:rPr lang="en-US" sz="2400">
                <a:ea typeface="+mn-lt"/>
                <a:cs typeface="+mn-lt"/>
              </a:rPr>
              <a:t> encore </a:t>
            </a:r>
            <a:r>
              <a:rPr lang="en-US" sz="2400" err="1">
                <a:ea typeface="+mn-lt"/>
                <a:cs typeface="+mn-lt"/>
              </a:rPr>
              <a:t>satisfaisante</a:t>
            </a:r>
            <a:r>
              <a:rPr lang="en-US" sz="2400">
                <a:ea typeface="+mn-lt"/>
                <a:cs typeface="+mn-lt"/>
              </a:rPr>
              <a:t> pour des quiz </a:t>
            </a:r>
            <a:r>
              <a:rPr lang="en-US" sz="2400" err="1">
                <a:ea typeface="+mn-lt"/>
                <a:cs typeface="+mn-lt"/>
              </a:rPr>
              <a:t>pédagogiques</a:t>
            </a:r>
            <a:endParaRPr lang="en-US" sz="2400">
              <a:ea typeface="+mn-lt"/>
              <a:cs typeface="+mn-lt"/>
            </a:endParaRPr>
          </a:p>
          <a:p>
            <a:endParaRPr lang="en-US" sz="2400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Phi-3 mini</a:t>
            </a:r>
          </a:p>
          <a:p>
            <a:pPr marL="285750" indent="-285750">
              <a:buFont typeface="Arial,Sans-Serif"/>
              <a:buChar char="•"/>
            </a:pPr>
            <a:r>
              <a:rPr lang="en-US" sz="2400">
                <a:ea typeface="+mn-lt"/>
                <a:cs typeface="+mn-lt"/>
              </a:rPr>
              <a:t>Très </a:t>
            </a:r>
            <a:r>
              <a:rPr lang="en-US" sz="2400" err="1">
                <a:ea typeface="+mn-lt"/>
                <a:cs typeface="+mn-lt"/>
              </a:rPr>
              <a:t>rapide</a:t>
            </a:r>
            <a:endParaRPr lang="en-US" sz="2400"/>
          </a:p>
          <a:p>
            <a:pPr marL="285750" indent="-285750">
              <a:buFont typeface="Arial,Sans-Serif"/>
              <a:buChar char="•"/>
            </a:pPr>
            <a:r>
              <a:rPr lang="en-US" sz="2400" err="1">
                <a:ea typeface="+mn-lt"/>
                <a:cs typeface="+mn-lt"/>
              </a:rPr>
              <a:t>Qualité</a:t>
            </a:r>
            <a:r>
              <a:rPr lang="en-US" sz="2400">
                <a:ea typeface="+mn-lt"/>
                <a:cs typeface="+mn-lt"/>
              </a:rPr>
              <a:t> un peu moins stable</a:t>
            </a:r>
            <a:endParaRPr lang="en-US" sz="2400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>
              <a:ea typeface="+mn-lt"/>
              <a:cs typeface="+mn-l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744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FF430-2A80-E293-F447-56CEF17D1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1E89B9-04A6-3FA4-56B5-CF108214D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29FDCD-AE9C-B4BC-2798-14439375D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ED3002-2B6C-01C2-3836-F6F5434C5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86B14A-F3BA-0A43-E440-9F0D5D7F6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0377A3-08EE-6B12-144C-F97AB040B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CFD476-EE83-65E0-BA20-06C36A81E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 err="1">
                <a:solidFill>
                  <a:srgbClr val="FFFFFF"/>
                </a:solidFill>
              </a:rPr>
              <a:t>Burndown</a:t>
            </a:r>
            <a:r>
              <a:rPr lang="fr-FR" sz="4000">
                <a:solidFill>
                  <a:srgbClr val="FFFFFF"/>
                </a:solidFill>
              </a:rPr>
              <a:t> </a:t>
            </a:r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B09FC76-9DAF-14DA-2F96-D0A869A3B09B}"/>
              </a:ext>
            </a:extLst>
          </p:cNvPr>
          <p:cNvSpPr txBox="1"/>
          <p:nvPr/>
        </p:nvSpPr>
        <p:spPr>
          <a:xfrm>
            <a:off x="1104" y="6408846"/>
            <a:ext cx="13491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400"/>
              <a:t>CHAIMA</a:t>
            </a:r>
          </a:p>
        </p:txBody>
      </p:sp>
      <p:pic>
        <p:nvPicPr>
          <p:cNvPr id="11" name="Espace réservé du contenu 10" descr="Une image contenant texte, capture d’écran, ligne, nombre&#10;&#10;Le contenu généré par l’IA peut être incorrect.">
            <a:extLst>
              <a:ext uri="{FF2B5EF4-FFF2-40B4-BE49-F238E27FC236}">
                <a16:creationId xmlns:a16="http://schemas.microsoft.com/office/drawing/2014/main" id="{1071061F-7E03-B87D-35A0-3C7E02466A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7772" y="2954814"/>
            <a:ext cx="7634514" cy="3899989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4970513C-D2A2-2C1D-A600-3E89ADEE8A91}"/>
              </a:ext>
            </a:extLst>
          </p:cNvPr>
          <p:cNvSpPr txBox="1"/>
          <p:nvPr/>
        </p:nvSpPr>
        <p:spPr>
          <a:xfrm>
            <a:off x="3577771" y="1578429"/>
            <a:ext cx="6096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ea typeface="+mn-lt"/>
              <a:cs typeface="+mn-lt"/>
            </a:endParaRPr>
          </a:p>
          <a:p>
            <a:r>
              <a:rPr lang="fr-FR">
                <a:ea typeface="+mn-lt"/>
                <a:cs typeface="+mn-lt"/>
              </a:rPr>
              <a:t>Le </a:t>
            </a:r>
            <a:r>
              <a:rPr lang="fr-FR" err="1">
                <a:ea typeface="+mn-lt"/>
                <a:cs typeface="+mn-lt"/>
              </a:rPr>
              <a:t>burndown</a:t>
            </a:r>
            <a:r>
              <a:rPr lang="fr-FR">
                <a:ea typeface="+mn-lt"/>
                <a:cs typeface="+mn-lt"/>
              </a:rPr>
              <a:t> nous dit si le sprint va tenir. Ici on a pris du retard au milieu du sprint, on l'a détecté grâce à la courbe, et l'équipe a réagi pour limiter les dégâts</a:t>
            </a:r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F64024F-36BF-85B5-B8D7-BD6107E3A1B2}"/>
              </a:ext>
            </a:extLst>
          </p:cNvPr>
          <p:cNvSpPr txBox="1"/>
          <p:nvPr/>
        </p:nvSpPr>
        <p:spPr>
          <a:xfrm>
            <a:off x="283029" y="3080657"/>
            <a:ext cx="609600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 u="none" strike="noStrike">
                <a:solidFill>
                  <a:srgbClr val="000000"/>
                </a:solidFill>
              </a:rPr>
              <a:t>40 points </a:t>
            </a:r>
            <a:r>
              <a:rPr lang="en-US" b="0" i="0" u="none" strike="noStrike" err="1">
                <a:solidFill>
                  <a:srgbClr val="000000"/>
                </a:solidFill>
              </a:rPr>
              <a:t>engagés</a:t>
            </a:r>
            <a:r>
              <a:rPr lang="en-US" b="0" i="0" u="none" strike="noStrike">
                <a:solidFill>
                  <a:srgbClr val="000000"/>
                </a:solidFill>
              </a:rPr>
              <a:t> sur 10 </a:t>
            </a:r>
            <a:r>
              <a:rPr lang="en-US" b="0" i="0" u="none" strike="noStrike" err="1">
                <a:solidFill>
                  <a:srgbClr val="000000"/>
                </a:solidFill>
              </a:rPr>
              <a:t>jours</a:t>
            </a:r>
          </a:p>
          <a:p>
            <a:pPr>
              <a:buFont typeface="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>
              <a:buFont typeface=""/>
              <a:buChar char="•"/>
            </a:pPr>
            <a:r>
              <a:rPr lang="en-US" b="0" i="0" u="none" strike="noStrike" err="1">
                <a:solidFill>
                  <a:srgbClr val="000000"/>
                </a:solidFill>
              </a:rPr>
              <a:t>Écart</a:t>
            </a:r>
            <a:r>
              <a:rPr lang="en-US" b="0" i="0" u="none" strike="noStrike">
                <a:solidFill>
                  <a:srgbClr val="000000"/>
                </a:solidFill>
              </a:rPr>
              <a:t> maximum au jour 6 : </a:t>
            </a:r>
            <a:br>
              <a:rPr lang="en-US"/>
            </a:br>
            <a:r>
              <a:rPr lang="en-US" b="0" i="0" u="none" strike="noStrike">
                <a:solidFill>
                  <a:srgbClr val="000000"/>
                </a:solidFill>
              </a:rPr>
              <a:t>22 pts </a:t>
            </a:r>
            <a:r>
              <a:rPr lang="en-US" b="0" i="0" u="none" strike="noStrike" err="1">
                <a:solidFill>
                  <a:srgbClr val="000000"/>
                </a:solidFill>
              </a:rPr>
              <a:t>restants</a:t>
            </a:r>
            <a:r>
              <a:rPr lang="en-US" b="0" i="0" u="none" strike="noStrike">
                <a:solidFill>
                  <a:srgbClr val="000000"/>
                </a:solidFill>
              </a:rPr>
              <a:t> </a:t>
            </a:r>
            <a:r>
              <a:rPr lang="en-US" b="0" i="0" u="none" strike="noStrike" err="1">
                <a:solidFill>
                  <a:srgbClr val="000000"/>
                </a:solidFill>
              </a:rPr>
              <a:t>contre</a:t>
            </a:r>
            <a:r>
              <a:rPr lang="en-US" b="0" i="0" u="none" strike="noStrike">
                <a:solidFill>
                  <a:srgbClr val="000000"/>
                </a:solidFill>
              </a:rPr>
              <a:t> 16 </a:t>
            </a:r>
            <a:r>
              <a:rPr lang="en-US" b="0" i="0" u="none" strike="noStrike" err="1">
                <a:solidFill>
                  <a:srgbClr val="000000"/>
                </a:solidFill>
              </a:rPr>
              <a:t>prévus</a:t>
            </a:r>
            <a:br>
              <a:rPr lang="en-US">
                <a:solidFill>
                  <a:srgbClr val="000000"/>
                </a:solidFill>
              </a:rPr>
            </a:br>
            <a:r>
              <a:rPr lang="en-US">
                <a:solidFill>
                  <a:srgbClr val="000000"/>
                </a:solidFill>
              </a:rPr>
              <a:t> </a:t>
            </a:r>
            <a:r>
              <a:rPr lang="en-US" b="0" i="0" u="none" strike="noStrike">
                <a:solidFill>
                  <a:srgbClr val="000000"/>
                </a:solidFill>
              </a:rPr>
              <a:t>(retard de 6 pts)</a:t>
            </a:r>
          </a:p>
          <a:p>
            <a:pPr>
              <a:buFont typeface="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>
              <a:buFont typeface=""/>
              <a:buChar char="•"/>
            </a:pPr>
            <a:r>
              <a:rPr lang="en-US" b="0" i="0" u="none" strike="noStrike">
                <a:solidFill>
                  <a:srgbClr val="000000"/>
                </a:solidFill>
              </a:rPr>
              <a:t>Fin de sprint : 39 pts </a:t>
            </a:r>
            <a:r>
              <a:rPr lang="en-US" b="0" i="0" u="none" strike="noStrike" err="1">
                <a:solidFill>
                  <a:srgbClr val="000000"/>
                </a:solidFill>
              </a:rPr>
              <a:t>terminés</a:t>
            </a:r>
            <a:br>
              <a:rPr lang="en-US"/>
            </a:br>
            <a:r>
              <a:rPr lang="en-US">
                <a:solidFill>
                  <a:srgbClr val="000000"/>
                </a:solidFill>
              </a:rPr>
              <a:t> </a:t>
            </a:r>
            <a:r>
              <a:rPr lang="en-US" b="0" i="0" u="none" strike="noStrike">
                <a:solidFill>
                  <a:srgbClr val="000000"/>
                </a:solidFill>
              </a:rPr>
              <a:t>sur 40 → 98% de </a:t>
            </a:r>
            <a:r>
              <a:rPr lang="en-US" b="0" i="0" u="none" strike="noStrike" err="1">
                <a:solidFill>
                  <a:srgbClr val="000000"/>
                </a:solidFill>
              </a:rPr>
              <a:t>complétion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5573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86415-5809-9FE6-DFB5-F42B35EB9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E8D12E4-B321-4AC0-8D15-E119A1D21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E8523F-B156-1649-5D88-8B26B2C87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48C295-B83B-AC52-B30A-BA6CDC674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D4CEE5-34B2-EB00-3437-984D25323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94963D-6DEE-9454-66FC-87CF84FDA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4C8231A-E575-5707-DBBB-83285CF05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 err="1">
                <a:solidFill>
                  <a:srgbClr val="FFFFFF"/>
                </a:solidFill>
              </a:rPr>
              <a:t>Burndown</a:t>
            </a:r>
            <a:r>
              <a:rPr lang="fr-FR" sz="4000">
                <a:solidFill>
                  <a:srgbClr val="FFFFFF"/>
                </a:solidFill>
              </a:rPr>
              <a:t> </a:t>
            </a:r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7F3B656-692F-8DFE-2FA1-32B567C5B3FB}"/>
              </a:ext>
            </a:extLst>
          </p:cNvPr>
          <p:cNvSpPr txBox="1"/>
          <p:nvPr/>
        </p:nvSpPr>
        <p:spPr>
          <a:xfrm>
            <a:off x="1104" y="6408846"/>
            <a:ext cx="134919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400"/>
              <a:t>CHAIMA</a:t>
            </a:r>
          </a:p>
        </p:txBody>
      </p:sp>
      <p:pic>
        <p:nvPicPr>
          <p:cNvPr id="6" name="Image 5" descr="Une image contenant texte, capture d’écran, ligne, nombre&#10;&#10;Le contenu généré par l’IA peut être incorrect.">
            <a:extLst>
              <a:ext uri="{FF2B5EF4-FFF2-40B4-BE49-F238E27FC236}">
                <a16:creationId xmlns:a16="http://schemas.microsoft.com/office/drawing/2014/main" id="{D2A55264-D486-D693-C38F-92BD244C5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542" y="2315863"/>
            <a:ext cx="8592458" cy="455582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1D39D55-4E48-65DC-6869-20C931F19FCB}"/>
              </a:ext>
            </a:extLst>
          </p:cNvPr>
          <p:cNvSpPr txBox="1"/>
          <p:nvPr/>
        </p:nvSpPr>
        <p:spPr>
          <a:xfrm>
            <a:off x="232229" y="2347687"/>
            <a:ext cx="5109029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</a:rPr>
              <a:t>6 sprints </a:t>
            </a:r>
            <a:r>
              <a:rPr lang="en-US" sz="1600" b="0" i="0" u="none" strike="noStrike" err="1">
                <a:solidFill>
                  <a:srgbClr val="000000"/>
                </a:solidFill>
              </a:rPr>
              <a:t>réalisés</a:t>
            </a:r>
            <a:r>
              <a:rPr lang="en-US" sz="1600" b="0" i="0" u="none" strike="noStrike">
                <a:solidFill>
                  <a:srgbClr val="000000"/>
                </a:solidFill>
              </a:rPr>
              <a:t>, </a:t>
            </a:r>
            <a:r>
              <a:rPr lang="en-US" sz="1600" b="0" i="0" u="none" strike="noStrike" err="1">
                <a:solidFill>
                  <a:srgbClr val="000000"/>
                </a:solidFill>
              </a:rPr>
              <a:t>vélocité</a:t>
            </a:r>
            <a:r>
              <a:rPr lang="en-US" sz="1600" b="0" i="0" u="none" strike="noStrike">
                <a:solidFill>
                  <a:srgbClr val="000000"/>
                </a:solidFill>
              </a:rPr>
              <a:t> </a:t>
            </a:r>
            <a:br>
              <a:rPr lang="en-US" sz="1600"/>
            </a:br>
            <a:r>
              <a:rPr lang="en-US" sz="1600" b="0" i="0" u="none" strike="noStrike" err="1">
                <a:solidFill>
                  <a:srgbClr val="000000"/>
                </a:solidFill>
              </a:rPr>
              <a:t>moyenne</a:t>
            </a:r>
            <a:r>
              <a:rPr lang="en-US" sz="1600" b="0" i="0" u="none" strike="noStrike">
                <a:solidFill>
                  <a:srgbClr val="000000"/>
                </a:solidFill>
              </a:rPr>
              <a:t> ≈ 23 pts/sprint</a:t>
            </a:r>
            <a:br>
              <a:rPr lang="en-US" sz="1600"/>
            </a:br>
            <a:endParaRPr lang="en-US" sz="1600" b="0" i="0" u="none" strike="noStrike">
              <a:solidFill>
                <a:srgbClr val="000000"/>
              </a:solidFill>
            </a:endParaRPr>
          </a:p>
          <a:p>
            <a:pPr>
              <a:buFont typeface=""/>
              <a:buChar char="•"/>
            </a:pPr>
            <a:r>
              <a:rPr lang="en-US" sz="1600" b="0" i="0" u="none" strike="noStrike" err="1">
                <a:solidFill>
                  <a:srgbClr val="000000"/>
                </a:solidFill>
              </a:rPr>
              <a:t>Périmètre</a:t>
            </a:r>
            <a:r>
              <a:rPr lang="en-US" sz="1600" b="0" i="0" u="none" strike="noStrike">
                <a:solidFill>
                  <a:srgbClr val="000000"/>
                </a:solidFill>
              </a:rPr>
              <a:t> total : 140 pts / </a:t>
            </a:r>
            <a:r>
              <a:rPr lang="en-US" sz="1600" b="0" i="0" u="none" strike="noStrike" err="1">
                <a:solidFill>
                  <a:srgbClr val="000000"/>
                </a:solidFill>
              </a:rPr>
              <a:t>Réalisé</a:t>
            </a:r>
            <a:r>
              <a:rPr lang="en-US" sz="1600" b="0" i="0" u="none" strike="noStrike">
                <a:solidFill>
                  <a:srgbClr val="000000"/>
                </a:solidFill>
              </a:rPr>
              <a:t> : </a:t>
            </a:r>
            <a:br>
              <a:rPr lang="en-US" sz="1600"/>
            </a:br>
            <a:r>
              <a:rPr lang="en-US" sz="1600" b="0" i="0" u="none" strike="noStrike">
                <a:solidFill>
                  <a:srgbClr val="000000"/>
                </a:solidFill>
              </a:rPr>
              <a:t>135 pts → </a:t>
            </a:r>
            <a:r>
              <a:rPr lang="en-US" sz="1600" b="0" i="0" u="none" strike="noStrike" err="1">
                <a:solidFill>
                  <a:srgbClr val="000000"/>
                </a:solidFill>
              </a:rPr>
              <a:t>reste</a:t>
            </a:r>
            <a:r>
              <a:rPr lang="en-US" sz="1600" b="0" i="0" u="none" strike="noStrike">
                <a:solidFill>
                  <a:srgbClr val="000000"/>
                </a:solidFill>
              </a:rPr>
              <a:t> 5 pts (≈0,2 sprint</a:t>
            </a:r>
            <a:br>
              <a:rPr lang="en-US" sz="1600"/>
            </a:br>
            <a:r>
              <a:rPr lang="en-US" sz="1600" b="0" i="0" u="none" strike="noStrike">
                <a:solidFill>
                  <a:srgbClr val="000000"/>
                </a:solidFill>
              </a:rPr>
              <a:t>)</a:t>
            </a:r>
          </a:p>
          <a:p>
            <a:pPr>
              <a:buFont typeface=""/>
              <a:buChar char="•"/>
            </a:pPr>
            <a:r>
              <a:rPr lang="en-US" sz="1600" b="0" i="0" u="none" strike="noStrike">
                <a:solidFill>
                  <a:srgbClr val="000000"/>
                </a:solidFill>
              </a:rPr>
              <a:t>Perturbations : </a:t>
            </a:r>
            <a:r>
              <a:rPr lang="en-US" sz="1600" b="0" i="0" u="none" strike="noStrike" err="1">
                <a:solidFill>
                  <a:srgbClr val="000000"/>
                </a:solidFill>
              </a:rPr>
              <a:t>ajout</a:t>
            </a:r>
            <a:r>
              <a:rPr lang="en-US" sz="1600" b="0" i="0" u="none" strike="noStrike">
                <a:solidFill>
                  <a:srgbClr val="000000"/>
                </a:solidFill>
              </a:rPr>
              <a:t> </a:t>
            </a:r>
            <a:r>
              <a:rPr lang="en-US" sz="1600" b="0" i="0" u="none" strike="noStrike" err="1">
                <a:solidFill>
                  <a:srgbClr val="000000"/>
                </a:solidFill>
              </a:rPr>
              <a:t>besoins</a:t>
            </a:r>
            <a:br>
              <a:rPr lang="en-US" sz="1600"/>
            </a:br>
            <a:r>
              <a:rPr lang="en-US" sz="1600">
                <a:solidFill>
                  <a:srgbClr val="000000"/>
                </a:solidFill>
              </a:rPr>
              <a:t> </a:t>
            </a:r>
            <a:r>
              <a:rPr lang="en-US" sz="1600" b="0" i="0" u="none" strike="noStrike" err="1">
                <a:solidFill>
                  <a:srgbClr val="000000"/>
                </a:solidFill>
              </a:rPr>
              <a:t>enseignant</a:t>
            </a:r>
            <a:r>
              <a:rPr lang="en-US" sz="1600" b="0" i="0" u="none" strike="noStrike">
                <a:solidFill>
                  <a:srgbClr val="000000"/>
                </a:solidFill>
              </a:rPr>
              <a:t> (S3), </a:t>
            </a:r>
            <a:r>
              <a:rPr lang="en-US" sz="1600" b="0" i="0" u="none" strike="noStrike" err="1">
                <a:solidFill>
                  <a:srgbClr val="000000"/>
                </a:solidFill>
              </a:rPr>
              <a:t>évolution</a:t>
            </a:r>
            <a:br>
              <a:rPr lang="en-US" sz="1600"/>
            </a:br>
            <a:r>
              <a:rPr lang="en-US" sz="1600">
                <a:solidFill>
                  <a:srgbClr val="000000"/>
                </a:solidFill>
              </a:rPr>
              <a:t> </a:t>
            </a:r>
            <a:r>
              <a:rPr lang="en-US" sz="1600" b="0" i="0" u="none" strike="noStrike">
                <a:solidFill>
                  <a:srgbClr val="000000"/>
                </a:solidFill>
              </a:rPr>
              <a:t>technique LLM (S5) → le </a:t>
            </a:r>
            <a:r>
              <a:rPr lang="en-US" sz="1600" b="0" i="0" u="none" strike="noStrike" err="1">
                <a:solidFill>
                  <a:srgbClr val="000000"/>
                </a:solidFill>
              </a:rPr>
              <a:t>périmètre</a:t>
            </a:r>
            <a:br>
              <a:rPr lang="en-US" sz="1600"/>
            </a:br>
            <a:r>
              <a:rPr lang="en-US" sz="1600">
                <a:solidFill>
                  <a:srgbClr val="000000"/>
                </a:solidFill>
              </a:rPr>
              <a:t> </a:t>
            </a:r>
            <a:r>
              <a:rPr lang="en-US" sz="1600" b="0" i="0" u="none" strike="noStrike">
                <a:solidFill>
                  <a:srgbClr val="000000"/>
                </a:solidFill>
              </a:rPr>
              <a:t>est passé de 41 à 140 pts </a:t>
            </a:r>
            <a:r>
              <a:rPr lang="en-US" sz="1600" b="0" i="0" u="none" strike="noStrike" err="1">
                <a:solidFill>
                  <a:srgbClr val="000000"/>
                </a:solidFill>
              </a:rPr>
              <a:t>en</a:t>
            </a:r>
            <a:r>
              <a:rPr lang="en-US" sz="1600" b="0" i="0" u="none" strike="noStrike">
                <a:solidFill>
                  <a:srgbClr val="000000"/>
                </a:solidFill>
              </a:rPr>
              <a:t> </a:t>
            </a:r>
            <a:br>
              <a:rPr lang="en-US" sz="1600"/>
            </a:br>
            <a:r>
              <a:rPr lang="en-US" sz="1600" b="0" i="0" u="none" strike="noStrike">
                <a:solidFill>
                  <a:srgbClr val="000000"/>
                </a:solidFill>
              </a:rPr>
              <a:t>6 sprints</a:t>
            </a:r>
          </a:p>
          <a:p>
            <a:pPr algn="ctr"/>
            <a:endParaRPr lang="fr-FR" sz="1600"/>
          </a:p>
        </p:txBody>
      </p:sp>
    </p:spTree>
    <p:extLst>
      <p:ext uri="{BB962C8B-B14F-4D97-AF65-F5344CB8AC3E}">
        <p14:creationId xmlns:p14="http://schemas.microsoft.com/office/powerpoint/2010/main" val="4137395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A6806B-EF61-FE71-DE86-DB996FB1A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906823-C7FC-5F59-060C-9882A723E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70F667-156D-86FF-1F67-8C475B4A56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6FC262-0154-8FE3-F704-F5AB49E64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7AB2B8-2402-5C49-9A9B-A5A8C72F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C3BA26-FF79-6E80-CB63-0C39837B1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8FD9352-D342-6689-7A5B-7EDD2E185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Scénario audit (BONUS)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CF26046-796E-320B-3193-FCEF0999D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2370" y="5664654"/>
            <a:ext cx="7235374" cy="119448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 sz="1800">
                <a:ea typeface="+mn-lt"/>
                <a:cs typeface="+mn-lt"/>
              </a:rPr>
              <a:t>4 scénarios testés : injection directe, injection via PDF, jailbreak persona, injection champ profil</a:t>
            </a:r>
          </a:p>
          <a:p>
            <a:r>
              <a:rPr lang="fr-FR" sz="1800">
                <a:ea typeface="+mn-lt"/>
                <a:cs typeface="+mn-lt"/>
              </a:rPr>
              <a:t>Objectif : vérifier que le LLM ne suit pas d'instructions cachées dans le contenu utilisateur</a:t>
            </a:r>
            <a:endParaRPr lang="fr-FR" sz="1800"/>
          </a:p>
          <a:p>
            <a:pPr lvl="2">
              <a:buFont typeface="Wingdings" panose="020B0604020202020204" pitchFamily="34" charset="0"/>
              <a:buChar char="§"/>
            </a:pPr>
            <a:endParaRPr lang="fr-FR" sz="180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DC53E94-DA73-B626-FA39-1137F3419D4C}"/>
              </a:ext>
            </a:extLst>
          </p:cNvPr>
          <p:cNvSpPr txBox="1"/>
          <p:nvPr/>
        </p:nvSpPr>
        <p:spPr>
          <a:xfrm>
            <a:off x="10306247" y="327360"/>
            <a:ext cx="1349197" cy="461665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400">
                <a:solidFill>
                  <a:schemeClr val="bg1"/>
                </a:solidFill>
              </a:rPr>
              <a:t>CHAIMA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89A5AB4-591C-BAC0-4400-D6E4565F4EEF}"/>
              </a:ext>
            </a:extLst>
          </p:cNvPr>
          <p:cNvSpPr txBox="1"/>
          <p:nvPr/>
        </p:nvSpPr>
        <p:spPr>
          <a:xfrm>
            <a:off x="29028" y="1592943"/>
            <a:ext cx="689428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 b="0" i="0" u="none" strike="noStrike">
                <a:solidFill>
                  <a:srgbClr val="000000"/>
                </a:solidFill>
              </a:rPr>
              <a:t>5 </a:t>
            </a:r>
            <a:r>
              <a:rPr lang="en-US" b="0" i="0" u="none" strike="noStrike" err="1">
                <a:solidFill>
                  <a:srgbClr val="000000"/>
                </a:solidFill>
              </a:rPr>
              <a:t>scénarios</a:t>
            </a:r>
            <a:r>
              <a:rPr lang="en-US" b="0" i="0" u="none" strike="noStrike">
                <a:solidFill>
                  <a:srgbClr val="000000"/>
                </a:solidFill>
              </a:rPr>
              <a:t> </a:t>
            </a:r>
            <a:r>
              <a:rPr lang="en-US" b="0" i="0" u="none" strike="noStrike" err="1">
                <a:solidFill>
                  <a:srgbClr val="000000"/>
                </a:solidFill>
              </a:rPr>
              <a:t>testés</a:t>
            </a:r>
            <a:r>
              <a:rPr lang="en-US" b="0" i="0" u="none" strike="noStrike">
                <a:solidFill>
                  <a:srgbClr val="000000"/>
                </a:solidFill>
              </a:rPr>
              <a:t> : droit </a:t>
            </a:r>
            <a:r>
              <a:rPr lang="en-US" b="0" i="0" u="none" strike="noStrike" err="1">
                <a:solidFill>
                  <a:srgbClr val="000000"/>
                </a:solidFill>
              </a:rPr>
              <a:t>d'accès</a:t>
            </a:r>
            <a:r>
              <a:rPr lang="en-US" b="0" i="0" u="none" strike="noStrike">
                <a:solidFill>
                  <a:srgbClr val="000000"/>
                </a:solidFill>
              </a:rPr>
              <a:t> (Art.15), droit à </a:t>
            </a:r>
            <a:r>
              <a:rPr lang="en-US" b="0" i="0" u="none" strike="noStrike" err="1">
                <a:solidFill>
                  <a:srgbClr val="000000"/>
                </a:solidFill>
              </a:rPr>
              <a:t>l'effacement</a:t>
            </a:r>
            <a:r>
              <a:rPr lang="en-US" b="0" i="0" u="none" strike="noStrike">
                <a:solidFill>
                  <a:srgbClr val="000000"/>
                </a:solidFill>
              </a:rPr>
              <a:t> (Art.17), </a:t>
            </a:r>
            <a:r>
              <a:rPr lang="en-US" b="0" i="0" u="none" strike="noStrike" err="1">
                <a:solidFill>
                  <a:srgbClr val="000000"/>
                </a:solidFill>
              </a:rPr>
              <a:t>consentement</a:t>
            </a:r>
            <a:r>
              <a:rPr lang="en-US" b="0" i="0" u="none" strike="noStrike">
                <a:solidFill>
                  <a:srgbClr val="000000"/>
                </a:solidFill>
              </a:rPr>
              <a:t> (Art.13), sécurité </a:t>
            </a:r>
            <a:r>
              <a:rPr lang="en-US" b="0" i="0" u="none" strike="noStrike" err="1">
                <a:solidFill>
                  <a:srgbClr val="000000"/>
                </a:solidFill>
              </a:rPr>
              <a:t>mdp</a:t>
            </a:r>
            <a:r>
              <a:rPr lang="en-US" b="0" i="0" u="none" strike="noStrike">
                <a:solidFill>
                  <a:srgbClr val="000000"/>
                </a:solidFill>
              </a:rPr>
              <a:t> (Art.32), pages </a:t>
            </a:r>
            <a:r>
              <a:rPr lang="en-US" b="0" i="0" u="none" strike="noStrike" err="1">
                <a:solidFill>
                  <a:srgbClr val="000000"/>
                </a:solidFill>
              </a:rPr>
              <a:t>légales</a:t>
            </a:r>
          </a:p>
          <a:p>
            <a:pPr>
              <a:buFont typeface=""/>
              <a:buChar char="•"/>
            </a:pPr>
            <a:endParaRPr lang="en-US">
              <a:solidFill>
                <a:srgbClr val="000000"/>
              </a:solidFill>
            </a:endParaRPr>
          </a:p>
          <a:p>
            <a:pPr>
              <a:buFont typeface=""/>
              <a:buChar char="•"/>
            </a:pPr>
            <a:r>
              <a:rPr lang="en-US" b="0" i="0" u="none" strike="noStrike">
                <a:solidFill>
                  <a:srgbClr val="000000"/>
                </a:solidFill>
              </a:rPr>
              <a:t>Objectif : </a:t>
            </a:r>
            <a:r>
              <a:rPr lang="en-US" b="0" i="0" u="none" strike="noStrike" err="1">
                <a:solidFill>
                  <a:srgbClr val="000000"/>
                </a:solidFill>
              </a:rPr>
              <a:t>vérifier</a:t>
            </a:r>
            <a:r>
              <a:rPr lang="en-US" b="0" i="0" u="none" strike="noStrike">
                <a:solidFill>
                  <a:srgbClr val="000000"/>
                </a:solidFill>
              </a:rPr>
              <a:t> la </a:t>
            </a:r>
            <a:r>
              <a:rPr lang="en-US" b="0" i="0" u="none" strike="noStrike" err="1">
                <a:solidFill>
                  <a:srgbClr val="000000"/>
                </a:solidFill>
              </a:rPr>
              <a:t>conformité</a:t>
            </a:r>
            <a:r>
              <a:rPr lang="en-US" b="0" i="0" u="none" strike="noStrike">
                <a:solidFill>
                  <a:srgbClr val="000000"/>
                </a:solidFill>
              </a:rPr>
              <a:t> du </a:t>
            </a:r>
            <a:r>
              <a:rPr lang="en-US" b="0" i="0" u="none" strike="noStrike" err="1">
                <a:solidFill>
                  <a:srgbClr val="000000"/>
                </a:solidFill>
              </a:rPr>
              <a:t>traitement</a:t>
            </a:r>
            <a:r>
              <a:rPr lang="en-US" b="0" i="0" u="none" strike="noStrike">
                <a:solidFill>
                  <a:srgbClr val="000000"/>
                </a:solidFill>
              </a:rPr>
              <a:t> des données </a:t>
            </a:r>
            <a:r>
              <a:rPr lang="en-US" b="0" i="0" u="none" strike="noStrike" err="1">
                <a:solidFill>
                  <a:srgbClr val="000000"/>
                </a:solidFill>
              </a:rPr>
              <a:t>personnelles</a:t>
            </a:r>
            <a:endParaRPr lang="en-US" b="0" i="0" u="none" strike="noStrike">
              <a:solidFill>
                <a:srgbClr val="000000"/>
              </a:solidFill>
            </a:endParaRPr>
          </a:p>
          <a:p>
            <a:pPr algn="ctr"/>
            <a:endParaRPr lang="fr-FR"/>
          </a:p>
        </p:txBody>
      </p:sp>
      <p:pic>
        <p:nvPicPr>
          <p:cNvPr id="6" name="Image 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F9F8151-4BFD-D801-3E4E-1F0DBF2C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3314" y="1591129"/>
            <a:ext cx="5268688" cy="3349168"/>
          </a:xfrm>
          <a:prstGeom prst="rect">
            <a:avLst/>
          </a:prstGeom>
        </p:spPr>
      </p:pic>
      <p:pic>
        <p:nvPicPr>
          <p:cNvPr id="7" name="Image 6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4F5ACD7-3E6B-1820-7119-435B7F41B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4" y="3562216"/>
            <a:ext cx="4804230" cy="334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849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58AE3-8D8E-05F2-3445-7C9BBBAEC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79119AF-6B6A-CF53-048A-E371EE4AB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A99676-5672-7C6F-ACAE-7C3824DB9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7CB1D8-D917-A6B7-2E2B-2924DB70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C4F7E6-F7BA-FE78-A641-7DF2E34E4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1A4366-0012-DFEB-114B-B0FE0A11E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7F13275-A5BC-E252-6A9C-738A2A43C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Gestion de projet au sein du groupe 4</a:t>
            </a:r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30A7169-F934-F8B0-7E5A-8C6255526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51885" cy="48375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2200"/>
              <a:t>Chef de projet : Navid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sz="2200"/>
              <a:t>Coordination des tâches, revue des travaux (PR)</a:t>
            </a:r>
          </a:p>
          <a:p>
            <a:r>
              <a:rPr lang="fr-FR" sz="2200"/>
              <a:t>Travail en groupe complet sur les artefacts afin d'arriver à une décision commune pour la suite du projet</a:t>
            </a:r>
          </a:p>
          <a:p>
            <a:r>
              <a:rPr lang="fr-FR" sz="2200"/>
              <a:t>GitHub Issues : documentation des tâches dans l'équipe</a:t>
            </a:r>
          </a:p>
          <a:p>
            <a:r>
              <a:rPr lang="fr-FR" sz="2200"/>
              <a:t>Inconvénient d'être 7 : parfois difficile de séparer les tâches entre les membres du groupe ==&gt; présence de </a:t>
            </a:r>
            <a:r>
              <a:rPr lang="fr-FR" sz="2200" err="1"/>
              <a:t>commits</a:t>
            </a:r>
            <a:r>
              <a:rPr lang="fr-FR" sz="2200"/>
              <a:t> avec mention de session de groupe</a:t>
            </a:r>
            <a:endParaRPr lang="en-US" sz="2200"/>
          </a:p>
          <a:p>
            <a:r>
              <a:rPr lang="fr-FR" sz="2200"/>
              <a:t>Avantage d'être 7 : travailler sur les parties bonus comme le code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684013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9F5ACF-AD2F-9874-6720-C0EC4CC20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669FB3-47CB-3FF2-016B-9A93F3B4A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ED585A-6F14-39C7-E2AC-02E6DD070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EDE8C7-A4B7-D5D2-C842-BD1B0F959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D87978-E926-B122-BABE-585CE8B75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28DE8A-B472-D641-AFA6-23B0BA4A3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1CF471B-5D0F-3076-2311-EDB7FCBBE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10019322" cy="1033669"/>
          </a:xfrm>
        </p:spPr>
        <p:txBody>
          <a:bodyPr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Gestion de projet au sein du groupe 4</a:t>
            </a:r>
            <a:endParaRPr lang="fr-FR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D295CFF-0747-162F-7601-2F311FF93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51885" cy="48375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Retour réflexif sur les perturbations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non seulement à l'échelle de l'application, mais des aléas (ex: communications Teams canal commun) imprévisibles sont survenus ==&gt; changement de priorisation des tâches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/>
              <a:t>avantage d'avoir un chef de projet dans l'équipe qui aide à gérer les moments de crise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fr-FR"/>
              <a:t>S'assure que tout le monde ait compris le besoin et le résultat attendu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fr-FR"/>
              <a:t>Même si cela ajoute du travail, la coordination est gérable grâce à la documentation des tâches et la traçabilité des artefacts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fr-FR"/>
          </a:p>
          <a:p>
            <a:pPr lvl="2">
              <a:buFont typeface="Wingdings" panose="020B0604020202020204" pitchFamily="34" charset="0"/>
              <a:buChar char="§"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7093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B44AD-87E8-D39D-B2DE-4C507A85E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43468C-4F85-5B13-F902-899669FAA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15E8EB-89EB-AC1A-E21D-7DD36FB2D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C285F9-19A0-E5DF-C5E6-03DC10879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44A816-9509-3541-F776-F253ABB2B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FD662D-FDE1-6D93-96BC-BD68F8B54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2459F8D-6560-E018-E8F1-AD77EC7AD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413" y="223654"/>
            <a:ext cx="9534950" cy="572925"/>
          </a:xfrm>
        </p:spPr>
        <p:txBody>
          <a:bodyPr>
            <a:normAutofit fontScale="90000"/>
          </a:bodyPr>
          <a:lstStyle/>
          <a:p>
            <a:r>
              <a:rPr lang="fr-FR" sz="4000">
                <a:solidFill>
                  <a:srgbClr val="FFFFFF"/>
                </a:solidFill>
              </a:rPr>
              <a:t>Scalabilité (US-27, US-28)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01F7B8-7FA5-D09D-B9C0-A466A22E5179}"/>
              </a:ext>
            </a:extLst>
          </p:cNvPr>
          <p:cNvSpPr/>
          <p:nvPr/>
        </p:nvSpPr>
        <p:spPr>
          <a:xfrm>
            <a:off x="10656" y="1060405"/>
            <a:ext cx="12170685" cy="5328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08DEAFC-B968-C61A-D640-9876D555C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173" y="1059869"/>
            <a:ext cx="4433259" cy="579813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8EB7243-5684-AA5D-273B-F305BB4F12E6}"/>
              </a:ext>
            </a:extLst>
          </p:cNvPr>
          <p:cNvSpPr txBox="1"/>
          <p:nvPr/>
        </p:nvSpPr>
        <p:spPr>
          <a:xfrm>
            <a:off x="6775097" y="1326797"/>
            <a:ext cx="4375623" cy="46166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/>
              <a:t>Stack de production</a:t>
            </a:r>
          </a:p>
          <a:p>
            <a:endParaRPr lang="fr-FR" sz="1400"/>
          </a:p>
          <a:p>
            <a:r>
              <a:rPr lang="fr-FR" sz="1400" b="1" err="1"/>
              <a:t>Load</a:t>
            </a:r>
            <a:r>
              <a:rPr lang="fr-FR" sz="1400" b="1"/>
              <a:t> Balancer</a:t>
            </a:r>
          </a:p>
          <a:p>
            <a:r>
              <a:rPr lang="fr-FR" sz="1400"/>
              <a:t>  </a:t>
            </a:r>
            <a:r>
              <a:rPr lang="fr-FR" sz="1400" err="1"/>
              <a:t>HAProxy</a:t>
            </a:r>
            <a:r>
              <a:rPr lang="fr-FR" sz="1400"/>
              <a:t>/Nginx + </a:t>
            </a:r>
            <a:r>
              <a:rPr lang="fr-FR" sz="1400" err="1"/>
              <a:t>ClusterIP</a:t>
            </a:r>
            <a:r>
              <a:rPr lang="fr-FR" sz="1400"/>
              <a:t> interne</a:t>
            </a:r>
          </a:p>
          <a:p>
            <a:endParaRPr lang="fr-FR" sz="1400"/>
          </a:p>
          <a:p>
            <a:r>
              <a:rPr lang="fr-FR" sz="1400" b="1" err="1"/>
              <a:t>Kubernetes</a:t>
            </a:r>
            <a:r>
              <a:rPr lang="fr-FR" sz="1400" b="1"/>
              <a:t> (k8s) — HPA auto-</a:t>
            </a:r>
            <a:r>
              <a:rPr lang="fr-FR" sz="1400" b="1" err="1"/>
              <a:t>scale</a:t>
            </a:r>
            <a:endParaRPr lang="fr-FR" sz="1400" b="1"/>
          </a:p>
          <a:p>
            <a:r>
              <a:rPr lang="fr-FR" sz="1400"/>
              <a:t>  3 à 10 </a:t>
            </a:r>
            <a:r>
              <a:rPr lang="fr-FR" sz="1400" err="1"/>
              <a:t>pods</a:t>
            </a:r>
            <a:r>
              <a:rPr lang="fr-FR" sz="1400"/>
              <a:t> si CPU &gt; 70%</a:t>
            </a:r>
          </a:p>
          <a:p>
            <a:r>
              <a:rPr lang="fr-FR" sz="1400"/>
              <a:t>  Rolling updates = </a:t>
            </a:r>
            <a:r>
              <a:rPr lang="fr-FR" sz="1400" err="1"/>
              <a:t>zero-downtime</a:t>
            </a:r>
            <a:endParaRPr lang="fr-FR" sz="1400"/>
          </a:p>
          <a:p>
            <a:r>
              <a:rPr lang="fr-FR" sz="1400"/>
              <a:t>  Backend </a:t>
            </a:r>
            <a:r>
              <a:rPr lang="fr-FR" sz="1400" err="1"/>
              <a:t>stateless</a:t>
            </a:r>
            <a:r>
              <a:rPr lang="fr-FR" sz="1400"/>
              <a:t> → </a:t>
            </a:r>
            <a:r>
              <a:rPr lang="fr-FR" sz="1400" err="1"/>
              <a:t>scale</a:t>
            </a:r>
            <a:r>
              <a:rPr lang="fr-FR" sz="1400"/>
              <a:t> horizontal libre</a:t>
            </a:r>
          </a:p>
          <a:p>
            <a:endParaRPr lang="fr-FR" sz="1400"/>
          </a:p>
          <a:p>
            <a:r>
              <a:rPr lang="fr-FR" sz="1400" b="1"/>
              <a:t>PostgreSQL</a:t>
            </a:r>
          </a:p>
          <a:p>
            <a:r>
              <a:rPr lang="fr-FR" sz="1400"/>
              <a:t>  Source de vérité (profils, quiz, </a:t>
            </a:r>
            <a:r>
              <a:rPr lang="fr-FR" sz="1400" err="1"/>
              <a:t>histo</a:t>
            </a:r>
            <a:r>
              <a:rPr lang="fr-FR" sz="1400"/>
              <a:t>.)</a:t>
            </a:r>
          </a:p>
          <a:p>
            <a:r>
              <a:rPr lang="fr-FR" sz="1400"/>
              <a:t>  Master + </a:t>
            </a:r>
            <a:r>
              <a:rPr lang="fr-FR" sz="1400" err="1"/>
              <a:t>Replica</a:t>
            </a:r>
            <a:r>
              <a:rPr lang="fr-FR" sz="1400"/>
              <a:t> = lectures scalables</a:t>
            </a:r>
          </a:p>
          <a:p>
            <a:endParaRPr lang="fr-FR" sz="1400"/>
          </a:p>
          <a:p>
            <a:r>
              <a:rPr lang="fr-FR" sz="1400" b="1"/>
              <a:t>Redis Cache</a:t>
            </a:r>
          </a:p>
          <a:p>
            <a:r>
              <a:rPr lang="fr-FR" sz="1400"/>
              <a:t>  Quiz déjà générés → TTL 24h</a:t>
            </a:r>
          </a:p>
          <a:p>
            <a:r>
              <a:rPr lang="fr-FR" sz="1400"/>
              <a:t>  Évite de </a:t>
            </a:r>
            <a:r>
              <a:rPr lang="fr-FR" sz="1400" err="1"/>
              <a:t>re-solliciter</a:t>
            </a:r>
            <a:r>
              <a:rPr lang="fr-FR" sz="1400"/>
              <a:t> le LLM (coût)</a:t>
            </a:r>
          </a:p>
          <a:p>
            <a:endParaRPr lang="fr-FR" sz="1400"/>
          </a:p>
          <a:p>
            <a:r>
              <a:rPr lang="fr-FR" sz="1400" b="1"/>
              <a:t>LLM Cloud (multi-provider)</a:t>
            </a:r>
          </a:p>
          <a:p>
            <a:r>
              <a:rPr lang="fr-FR" sz="1400"/>
              <a:t>  </a:t>
            </a:r>
            <a:r>
              <a:rPr lang="fr-FR" sz="1400" err="1"/>
              <a:t>Fallback</a:t>
            </a:r>
            <a:r>
              <a:rPr lang="fr-FR" sz="1400"/>
              <a:t> auto si provider down (US-28)</a:t>
            </a:r>
          </a:p>
          <a:p>
            <a:r>
              <a:rPr lang="fr-FR" sz="1400"/>
              <a:t>  </a:t>
            </a:r>
            <a:r>
              <a:rPr lang="fr-FR" sz="1400" err="1"/>
              <a:t>Ollama</a:t>
            </a:r>
            <a:r>
              <a:rPr lang="fr-FR" sz="1400"/>
              <a:t> local = </a:t>
            </a:r>
            <a:r>
              <a:rPr lang="fr-FR" sz="1400" err="1"/>
              <a:t>fallback</a:t>
            </a:r>
            <a:r>
              <a:rPr lang="fr-FR" sz="1400"/>
              <a:t> secondaire</a:t>
            </a:r>
          </a:p>
        </p:txBody>
      </p:sp>
    </p:spTree>
    <p:extLst>
      <p:ext uri="{BB962C8B-B14F-4D97-AF65-F5344CB8AC3E}">
        <p14:creationId xmlns:p14="http://schemas.microsoft.com/office/powerpoint/2010/main" val="21140976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06CA7-FCC5-D6E5-4C49-98DA4854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43FF06F-BE05-73C1-FEE4-C24A5D85E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DEMO LIVE</a:t>
            </a:r>
            <a:r>
              <a:rPr lang="en-US">
                <a:solidFill>
                  <a:srgbClr val="FFFFFF"/>
                </a:solidFill>
              </a:rPr>
              <a:t> (US-25, US-26)</a:t>
            </a:r>
            <a:endParaRPr lang="en-US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4554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Grand écran</PresentationFormat>
  <Slides>22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Thème Office</vt:lpstr>
      <vt:lpstr>EduTutor IA</vt:lpstr>
      <vt:lpstr>Contexte</vt:lpstr>
      <vt:lpstr>Comment reprendre la base existante ?</vt:lpstr>
      <vt:lpstr>Présentation PowerPoint</vt:lpstr>
      <vt:lpstr>Artefacts de cadrage (2/7) - Personas</vt:lpstr>
      <vt:lpstr>Artefacts de cadrage (3/7) - Customer Journey</vt:lpstr>
      <vt:lpstr>Artefacts de cadrage (4/7) - Story Map</vt:lpstr>
      <vt:lpstr>Artefacts de cadrage (5/7) - Release Planning</vt:lpstr>
      <vt:lpstr>Artefacts de cadrage (6/7) - Product Backlog</vt:lpstr>
      <vt:lpstr>Artefacts de cadrage (7/7) - Sprint Backlog</vt:lpstr>
      <vt:lpstr>5 perturbations, quelles conséquences ?</vt:lpstr>
      <vt:lpstr>ADR - Contexte</vt:lpstr>
      <vt:lpstr>ADR – Critères et Options</vt:lpstr>
      <vt:lpstr>Benchmark</vt:lpstr>
      <vt:lpstr>Benchmark</vt:lpstr>
      <vt:lpstr>Burndown </vt:lpstr>
      <vt:lpstr>Burndown </vt:lpstr>
      <vt:lpstr>Scénario audit (BONUS)</vt:lpstr>
      <vt:lpstr>Gestion de projet au sein du groupe 4</vt:lpstr>
      <vt:lpstr>Gestion de projet au sein du groupe 4</vt:lpstr>
      <vt:lpstr>Scalabilité (US-27, US-28)</vt:lpstr>
      <vt:lpstr>DEMO LIVE (US-25, US-26)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</cp:revision>
  <dcterms:created xsi:type="dcterms:W3CDTF">2026-07-02T10:18:37Z</dcterms:created>
  <dcterms:modified xsi:type="dcterms:W3CDTF">2026-07-02T21:41:38Z</dcterms:modified>
</cp:coreProperties>
</file>